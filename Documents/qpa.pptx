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289" r:id="rId5"/>
    <p:sldId id="286" r:id="rId6"/>
    <p:sldId id="280" r:id="rId7"/>
    <p:sldId id="298" r:id="rId8"/>
    <p:sldId id="281" r:id="rId9"/>
    <p:sldId id="273" r:id="rId10"/>
    <p:sldId id="297" r:id="rId11"/>
    <p:sldId id="299" r:id="rId12"/>
    <p:sldId id="302" r:id="rId13"/>
    <p:sldId id="301" r:id="rId14"/>
    <p:sldId id="291" r:id="rId15"/>
    <p:sldId id="278" r:id="rId16"/>
    <p:sldId id="288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13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3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7082"/>
    <a:srgbClr val="C0C0C0"/>
    <a:srgbClr val="F2E8DA"/>
    <a:srgbClr val="F3F3F3"/>
    <a:srgbClr val="FFFFFF"/>
    <a:srgbClr val="89BF04"/>
    <a:srgbClr val="7F7F7F"/>
    <a:srgbClr val="496776"/>
    <a:srgbClr val="FF6B6B"/>
    <a:srgbClr val="EC817E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816" autoAdjust="0"/>
    <p:restoredTop sz="94670"/>
  </p:normalViewPr>
  <p:slideViewPr>
    <p:cSldViewPr snapToGrid="0">
      <p:cViewPr varScale="1">
        <p:scale>
          <a:sx n="78" d="100"/>
          <a:sy n="78" d="100"/>
        </p:scale>
        <p:origin x="749" y="43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8" d="100"/>
          <a:sy n="68" d="100"/>
        </p:scale>
        <p:origin x="328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3D6640C-F6A0-4351-856B-14836F234E6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280B7B-2795-4857-B84E-9C600536AE0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120AE1-5DBC-4417-A73B-5F29B67C532C}" type="datetimeFigureOut">
              <a:rPr lang="en-US" smtClean="0"/>
              <a:pPr/>
              <a:t>4/15/2025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C3ACD6-6E00-4BE1-A684-34A6BD202E3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7F20A5-CEF2-4B11-A0A4-0F4BC0BD647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822411-A9A9-4A09-A341-69C657AB42A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588885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16A9CD-5E57-4C86-B862-09CA519924BA}" type="datetimeFigureOut">
              <a:rPr lang="en-US" smtClean="0"/>
              <a:pPr/>
              <a:t>4/15/2025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A004F4-F240-48F9-8AE1-486585C7F0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48810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A004F4-F240-48F9-8AE1-486585C7F00D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01704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A004F4-F240-48F9-8AE1-486585C7F00D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849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A004F4-F240-48F9-8AE1-486585C7F00D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28687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832AC1-E26E-95AC-F623-DB073B0B5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F8EE47-9EC3-CFF3-E0C2-43D3CA8D1D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561B82-AB88-EB62-C1DA-474A3F354C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FE61F6-6FF5-BE7D-1005-7BD35C1105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A004F4-F240-48F9-8AE1-486585C7F00D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45053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A004F4-F240-48F9-8AE1-486585C7F00D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19396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A004F4-F240-48F9-8AE1-486585C7F00D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41929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FBD68F-A109-31CF-B367-0D985F1F30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C17DE5-B815-F25B-5915-7E9F65CBB5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0BB4A1-1E7B-212E-E807-793DDCDE22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6A9F1A-14CA-5478-DA8F-B1E79BAA91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A004F4-F240-48F9-8AE1-486585C7F00D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99232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661C96-3FE4-618C-D97A-C8251CC5B3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86411C-2654-75FD-69CE-BD00940237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E51FD2-30E4-87E1-C91D-763168FF97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B75A19-0620-0AA5-D6F4-03946071FC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A004F4-F240-48F9-8AE1-486585C7F00D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46872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04962-68B9-E926-5B36-91B18E610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2A2AED-6910-1FB9-56A5-826B27C870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5B7424-9588-5A4C-F2AC-F0CA9000FF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877DF4-130F-2A5C-B316-1479DD3E20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A004F4-F240-48F9-8AE1-486585C7F00D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13149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8013C1-A680-D5FB-6003-7DC1F6E47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511131-90F2-9010-F2EE-404B2AA844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BAAA33-281C-BB2B-B89F-52BD968430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D15CF8-8D48-2745-4D0A-C06133052D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A004F4-F240-48F9-8AE1-486585C7F00D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9562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A004F4-F240-48F9-8AE1-486585C7F00D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956131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A004F4-F240-48F9-8AE1-486585C7F00D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96999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A004F4-F240-48F9-8AE1-486585C7F00D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38662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7D165-49B0-44FF-A267-367F5A6EE3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39514"/>
            <a:ext cx="9144000" cy="2128049"/>
          </a:xfrm>
        </p:spPr>
        <p:txBody>
          <a:bodyPr anchor="b"/>
          <a:lstStyle>
            <a:lvl1pPr algn="ctr">
              <a:lnSpc>
                <a:spcPct val="125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B52800-74D6-4A78-AC9B-8E737A1A3B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21162"/>
            <a:ext cx="9144000" cy="882001"/>
          </a:xfrm>
          <a:solidFill>
            <a:schemeClr val="accent2">
              <a:alpha val="90000"/>
            </a:schemeClr>
          </a:solidFill>
        </p:spPr>
        <p:txBody>
          <a:bodyPr anchor="ctr" anchorCtr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500" b="1" i="1" kern="1200" spc="65" dirty="0">
                <a:solidFill>
                  <a:schemeClr val="accent1"/>
                </a:solidFill>
                <a:latin typeface="Arial"/>
                <a:ea typeface="+mn-ea"/>
                <a:cs typeface="Arial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B91F7B-C4AF-4FC6-A6BE-657DEF6D5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08ED5-AEFE-4443-9040-726EF6690995}" type="datetime1">
              <a:rPr lang="en-US" smtClean="0"/>
              <a:pPr/>
              <a:t>4/15/2025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ED32F8-B0C7-4332-B0A5-BC19DD8C4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030946-D0C7-4F78-94B0-427DAA6D5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95097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11141-A77D-4E0E-8CAF-4CD3B2799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7EFDE0-5A54-402A-B0C3-6BC0BB739C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2825AD-4585-4E37-A076-3D0070C93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2561F-7E45-400C-8758-912CDFE9410A}" type="datetime1">
              <a:rPr lang="en-US" smtClean="0"/>
              <a:pPr/>
              <a:t>4/15/2025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2064AD-EDC3-4B13-8CD6-49EB60099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90FD1E-16F6-49B1-A938-8CE601ED7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54652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FA988-92AD-48D7-890A-AA0540961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A999FA-A189-41DB-9CFC-D1356C5343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4D83DC-20E7-4B71-9794-36FC33B1B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24BC7-4CDB-41D7-81AF-9CE8473FF4B8}" type="datetime1">
              <a:rPr lang="en-US" smtClean="0"/>
              <a:pPr/>
              <a:t>4/15/2025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7D103-1290-4592-B37C-19C9C9DBE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955B1B-4A5C-42C7-99A5-B8217736F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012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60EB58-EF7E-435A-8B07-B5BCF3AF1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F76098-6FA1-470A-BEF4-E4B0AC75E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647ABC-6745-43B6-8A64-6E191BD65C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387105-2538-4216-9A7E-445FA092F9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F57DE0-C032-4FCC-9006-09C2C328A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CD216-73DE-4B96-8E1B-BB64D86142BB}" type="datetime1">
              <a:rPr lang="en-US" smtClean="0"/>
              <a:pPr/>
              <a:t>4/15/2025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C776CB-2819-4488-9012-A6EA22079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50367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43C73-1D0F-45F9-A7E4-E9D24EAFD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B88E76-F6AB-4621-A9A6-20A81C5A3F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313FB9-6D6C-4F61-9E7A-76E686D06C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93A737-E48B-4909-BE04-F55B581032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F9958C-DB5F-444E-ACE8-73F5E0CA67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1D097D1-3052-4C1F-B573-CA25FFF6C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5CD8C-7FEF-4E71-8EB9-D3BA6E2E3E9E}" type="datetime1">
              <a:rPr lang="en-US" smtClean="0"/>
              <a:pPr/>
              <a:t>4/15/2025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607AC3-2220-4DDA-A22A-C404538FE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FD8DEB3-F122-4B42-9E12-F61189B87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7695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89EF5-3FD9-4423-A9E8-B67B4E902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0D7191-31B4-440E-A4E9-F412FA558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4379E-9B58-41EA-B928-5B1C8436A60E}" type="datetime1">
              <a:rPr lang="en-US" smtClean="0"/>
              <a:pPr/>
              <a:t>4/15/2025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C85CB6-0880-4BF0-8E98-291E70C71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4A5E74-F26F-4C7A-BED1-6EE66C0B3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19032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55C546-684A-45B9-8890-66DC55DF7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0A371-51FE-4D99-BD87-6A650FCE519D}" type="datetime1">
              <a:rPr lang="en-US" smtClean="0"/>
              <a:pPr/>
              <a:t>4/15/2025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43EBDF-D696-42F7-B962-56F5FEE12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89D77E-1675-4F9D-9113-B274CB0E8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746025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E9C90-06AB-49B5-9970-F5791DE93A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FB0071-932D-4CA0-92FB-A6E75AC855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C8D9F5-8B70-4BDD-9CB5-BBF87CF553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89DE91-7A80-4682-9D32-2CD41DEFB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F8CFF-A1C0-4B6C-AA8D-BE72CB14468D}" type="datetime1">
              <a:rPr lang="en-US" smtClean="0"/>
              <a:pPr/>
              <a:t>4/15/2025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9E2482-2E7D-4868-95A7-4A55B40FE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4E84CF-C3E5-4475-84C7-21CBAC064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26256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0E0AA-5363-4861-AB6B-0E4D34D74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44B7CE-2038-4CCA-AA8A-D03DE5FD95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79774D-36EB-4201-B1AC-922DD2E066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D1E234-1CB2-41A0-B40D-7E7F160CB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D634D-0427-413D-A0D0-098959D06FEF}" type="datetime1">
              <a:rPr lang="en-US" smtClean="0"/>
              <a:pPr/>
              <a:t>4/15/2025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FD472E-6334-4051-B4D9-6361A819F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2384B9-6290-4070-B7D1-A105B27F0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74436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ictures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44B7CE-2038-4CCA-AA8A-D03DE5FD95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0"/>
            <a:ext cx="12192000" cy="6857999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2">
                    <a:lumMod val="20000"/>
                    <a:lumOff val="8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8AB8B54-69CD-4C57-8DBB-02A0E09851DD}"/>
              </a:ext>
            </a:extLst>
          </p:cNvPr>
          <p:cNvSpPr/>
          <p:nvPr userDrawn="1"/>
        </p:nvSpPr>
        <p:spPr>
          <a:xfrm>
            <a:off x="11562237" y="6227432"/>
            <a:ext cx="266400" cy="266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90E0AA-5363-4861-AB6B-0E4D34D74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17362"/>
            <a:ext cx="3932237" cy="1302111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79774D-36EB-4201-B1AC-922DD2E066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52419" y="1887801"/>
            <a:ext cx="4057961" cy="1431234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2">
                    <a:lumMod val="20000"/>
                    <a:lumOff val="8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D1E234-1CB2-41A0-B40D-7E7F160CB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D634D-0427-413D-A0D0-098959D06FEF}" type="datetime1">
              <a:rPr lang="en-US" smtClean="0"/>
              <a:pPr/>
              <a:t>4/15/2025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FD472E-6334-4051-B4D9-6361A819F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2384B9-6290-4070-B7D1-A105B27F0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Picture Placeholder 28">
            <a:extLst>
              <a:ext uri="{FF2B5EF4-FFF2-40B4-BE49-F238E27FC236}">
                <a16:creationId xmlns:a16="http://schemas.microsoft.com/office/drawing/2014/main" id="{2EB2F967-97B6-4CA8-B3E7-5FF7CA2BDD8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44273" y="1883115"/>
            <a:ext cx="576000" cy="576000"/>
          </a:xfrm>
        </p:spPr>
        <p:txBody>
          <a:bodyPr>
            <a:norm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Picture Placeholder 28">
            <a:extLst>
              <a:ext uri="{FF2B5EF4-FFF2-40B4-BE49-F238E27FC236}">
                <a16:creationId xmlns:a16="http://schemas.microsoft.com/office/drawing/2014/main" id="{5E78E133-FE09-456A-8463-9EFAC6ADE26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44273" y="3573118"/>
            <a:ext cx="576000" cy="576000"/>
          </a:xfrm>
        </p:spPr>
        <p:txBody>
          <a:bodyPr>
            <a:norm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7F0C3496-EA4B-43E5-9704-968F80A8552C}"/>
              </a:ext>
            </a:extLst>
          </p:cNvPr>
          <p:cNvSpPr>
            <a:spLocks noGrp="1"/>
          </p:cNvSpPr>
          <p:nvPr>
            <p:ph type="body" sz="half" idx="23"/>
          </p:nvPr>
        </p:nvSpPr>
        <p:spPr>
          <a:xfrm>
            <a:off x="1552418" y="3575461"/>
            <a:ext cx="4057961" cy="1431234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2">
                    <a:lumMod val="20000"/>
                    <a:lumOff val="8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 28">
            <a:extLst>
              <a:ext uri="{FF2B5EF4-FFF2-40B4-BE49-F238E27FC236}">
                <a16:creationId xmlns:a16="http://schemas.microsoft.com/office/drawing/2014/main" id="{13414E14-9FEB-40F8-AE6E-319637A8F1CB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844273" y="5263121"/>
            <a:ext cx="576000" cy="576000"/>
          </a:xfrm>
        </p:spPr>
        <p:txBody>
          <a:bodyPr>
            <a:norm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8EC97C88-8B4C-4665-845B-95CE8F237779}"/>
              </a:ext>
            </a:extLst>
          </p:cNvPr>
          <p:cNvSpPr>
            <a:spLocks noGrp="1"/>
          </p:cNvSpPr>
          <p:nvPr>
            <p:ph type="body" sz="half" idx="25"/>
          </p:nvPr>
        </p:nvSpPr>
        <p:spPr>
          <a:xfrm>
            <a:off x="1552418" y="5263122"/>
            <a:ext cx="4057961" cy="775728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2">
                    <a:lumMod val="20000"/>
                    <a:lumOff val="8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480610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mparis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B74348DE-EC54-4C62-948C-0B2BF904557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3115389"/>
            <a:ext cx="12188825" cy="3742611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2A53E879-94A1-4659-9069-ED0D6F03014D}"/>
              </a:ext>
            </a:extLst>
          </p:cNvPr>
          <p:cNvSpPr/>
          <p:nvPr userDrawn="1"/>
        </p:nvSpPr>
        <p:spPr>
          <a:xfrm>
            <a:off x="2400" y="1999821"/>
            <a:ext cx="12189600" cy="1115568"/>
          </a:xfrm>
          <a:custGeom>
            <a:avLst/>
            <a:gdLst/>
            <a:ahLst/>
            <a:cxnLst/>
            <a:rect l="l" t="t" r="r" b="b"/>
            <a:pathLst>
              <a:path w="12189460" h="6858000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lIns="0" tIns="0" rIns="0" bIns="0" rtlCol="0"/>
          <a:lstStyle/>
          <a:p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F43C73-1D0F-45F9-A7E4-E9D24EAFD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B88E76-F6AB-4621-A9A6-20A81C5A3F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9859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313FB9-6D6C-4F61-9E7A-76E686D06C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3434047"/>
            <a:ext cx="5157787" cy="2755616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93A737-E48B-4909-BE04-F55B581032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9859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F9958C-DB5F-444E-ACE8-73F5E0CA67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434047"/>
            <a:ext cx="5183188" cy="27556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1D097D1-3052-4C1F-B573-CA25FFF6C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5CD8C-7FEF-4E71-8EB9-D3BA6E2E3E9E}" type="datetime1">
              <a:rPr lang="en-US" smtClean="0"/>
              <a:pPr/>
              <a:t>4/15/2025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607AC3-2220-4DDA-A22A-C404538FE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FD8DEB3-F122-4B42-9E12-F61189B87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05760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60EB58-EF7E-435A-8B07-B5BCF3AF1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F76098-6FA1-470A-BEF4-E4B0AC75E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F57DE0-C032-4FCC-9006-09C2C328A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CD216-73DE-4B96-8E1B-BB64D86142BB}" type="datetime1">
              <a:rPr lang="en-US" smtClean="0"/>
              <a:pPr/>
              <a:t>4/15/2025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C776CB-2819-4488-9012-A6EA22079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B15EEB49-54F4-404C-9B31-AD488BFCB2E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772412" y="2219248"/>
            <a:ext cx="2414016" cy="2414016"/>
          </a:xfrm>
          <a:prstGeom prst="ellipse">
            <a:avLst/>
          </a:prstGeom>
          <a:noFill/>
          <a:ln w="387350">
            <a:noFill/>
          </a:ln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11">
            <a:extLst>
              <a:ext uri="{FF2B5EF4-FFF2-40B4-BE49-F238E27FC236}">
                <a16:creationId xmlns:a16="http://schemas.microsoft.com/office/drawing/2014/main" id="{6B2DD458-866A-421E-9AD0-B0D9E119572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005572" y="2196083"/>
            <a:ext cx="2414016" cy="2414016"/>
          </a:xfrm>
          <a:prstGeom prst="ellipse">
            <a:avLst/>
          </a:prstGeom>
          <a:noFill/>
          <a:ln w="387350">
            <a:noFill/>
          </a:ln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Picture Placeholder 11">
            <a:extLst>
              <a:ext uri="{FF2B5EF4-FFF2-40B4-BE49-F238E27FC236}">
                <a16:creationId xmlns:a16="http://schemas.microsoft.com/office/drawing/2014/main" id="{57A4D097-9603-42DC-888D-8039CE6ADC9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587240" y="2019165"/>
            <a:ext cx="3017520" cy="3017520"/>
          </a:xfrm>
          <a:prstGeom prst="ellipse">
            <a:avLst/>
          </a:prstGeom>
          <a:noFill/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Text Placeholder 23">
            <a:extLst>
              <a:ext uri="{FF2B5EF4-FFF2-40B4-BE49-F238E27FC236}">
                <a16:creationId xmlns:a16="http://schemas.microsoft.com/office/drawing/2014/main" id="{B9B9E0BA-35AD-4D69-9A03-35F2509C2C2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612900" y="5033963"/>
            <a:ext cx="2700338" cy="738187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9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3">
            <a:extLst>
              <a:ext uri="{FF2B5EF4-FFF2-40B4-BE49-F238E27FC236}">
                <a16:creationId xmlns:a16="http://schemas.microsoft.com/office/drawing/2014/main" id="{B1CC61B3-695C-423D-8F0B-45674DC932B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745831" y="5236700"/>
            <a:ext cx="2700338" cy="738187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9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3">
            <a:extLst>
              <a:ext uri="{FF2B5EF4-FFF2-40B4-BE49-F238E27FC236}">
                <a16:creationId xmlns:a16="http://schemas.microsoft.com/office/drawing/2014/main" id="{B870F23E-35A1-4942-A685-641AA883066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878762" y="5033963"/>
            <a:ext cx="2700338" cy="738187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9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863B8202-88BB-4ED4-B936-9D9C0B4C8D1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32808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icture with Three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3">
            <a:extLst>
              <a:ext uri="{FF2B5EF4-FFF2-40B4-BE49-F238E27FC236}">
                <a16:creationId xmlns:a16="http://schemas.microsoft.com/office/drawing/2014/main" id="{29F16048-FF4E-41B1-B3D4-0FB210A70DF2}"/>
              </a:ext>
            </a:extLst>
          </p:cNvPr>
          <p:cNvSpPr/>
          <p:nvPr userDrawn="1"/>
        </p:nvSpPr>
        <p:spPr>
          <a:xfrm>
            <a:off x="5294630" y="0"/>
            <a:ext cx="6897370" cy="6858000"/>
          </a:xfrm>
          <a:custGeom>
            <a:avLst/>
            <a:gdLst/>
            <a:ahLst/>
            <a:cxnLst/>
            <a:rect l="l" t="t" r="r" b="b"/>
            <a:pathLst>
              <a:path w="6897370" h="6858000">
                <a:moveTo>
                  <a:pt x="0" y="6858000"/>
                </a:moveTo>
                <a:lnTo>
                  <a:pt x="6896900" y="6858000"/>
                </a:lnTo>
                <a:lnTo>
                  <a:pt x="68969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lIns="0" tIns="0" rIns="0" bIns="0" rtlCol="0"/>
          <a:lstStyle/>
          <a:p>
            <a:endParaRPr lang="en-US" noProof="0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8AB8B54-69CD-4C57-8DBB-02A0E09851DD}"/>
              </a:ext>
            </a:extLst>
          </p:cNvPr>
          <p:cNvSpPr/>
          <p:nvPr userDrawn="1"/>
        </p:nvSpPr>
        <p:spPr>
          <a:xfrm>
            <a:off x="11562237" y="6227432"/>
            <a:ext cx="266400" cy="266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90E0AA-5363-4861-AB6B-0E4D34D74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17362"/>
            <a:ext cx="3932237" cy="130211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79774D-36EB-4201-B1AC-922DD2E066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294251" y="1192697"/>
            <a:ext cx="4057961" cy="1431234"/>
          </a:xfrm>
        </p:spPr>
        <p:txBody>
          <a:bodyPr/>
          <a:lstStyle>
            <a:lvl1pPr marL="0" indent="0">
              <a:buNone/>
              <a:defRPr sz="160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D1E234-1CB2-41A0-B40D-7E7F160CB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D634D-0427-413D-A0D0-098959D06FEF}" type="datetime1">
              <a:rPr lang="en-US" smtClean="0"/>
              <a:pPr/>
              <a:t>4/15/2025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FD472E-6334-4051-B4D9-6361A819F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2384B9-6290-4070-B7D1-A105B27F0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9337951D-6DB6-4713-9200-E8513CDEB6B3}"/>
              </a:ext>
            </a:extLst>
          </p:cNvPr>
          <p:cNvSpPr/>
          <p:nvPr userDrawn="1"/>
        </p:nvSpPr>
        <p:spPr>
          <a:xfrm>
            <a:off x="0" y="2430411"/>
            <a:ext cx="3625850" cy="3438525"/>
          </a:xfrm>
          <a:custGeom>
            <a:avLst/>
            <a:gdLst/>
            <a:ahLst/>
            <a:cxnLst/>
            <a:rect l="l" t="t" r="r" b="b"/>
            <a:pathLst>
              <a:path w="3625850" h="3438525">
                <a:moveTo>
                  <a:pt x="0" y="3438486"/>
                </a:moveTo>
                <a:lnTo>
                  <a:pt x="3625596" y="3438486"/>
                </a:lnTo>
                <a:lnTo>
                  <a:pt x="3625596" y="0"/>
                </a:lnTo>
                <a:lnTo>
                  <a:pt x="0" y="0"/>
                </a:lnTo>
                <a:lnTo>
                  <a:pt x="0" y="3438486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 lang="en-US" noProof="0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44B7CE-2038-4CCA-AA8A-D03DE5FD95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2781223"/>
            <a:ext cx="6040800" cy="273690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Picture Placeholder 28">
            <a:extLst>
              <a:ext uri="{FF2B5EF4-FFF2-40B4-BE49-F238E27FC236}">
                <a16:creationId xmlns:a16="http://schemas.microsoft.com/office/drawing/2014/main" id="{2EB2F967-97B6-4CA8-B3E7-5FF7CA2BDD8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586106" y="1188012"/>
            <a:ext cx="376237" cy="376237"/>
          </a:xfrm>
        </p:spPr>
        <p:txBody>
          <a:bodyPr>
            <a:norm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Picture Placeholder 28">
            <a:extLst>
              <a:ext uri="{FF2B5EF4-FFF2-40B4-BE49-F238E27FC236}">
                <a16:creationId xmlns:a16="http://schemas.microsoft.com/office/drawing/2014/main" id="{5E78E133-FE09-456A-8463-9EFAC6ADE26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586106" y="2878015"/>
            <a:ext cx="376237" cy="376237"/>
          </a:xfrm>
        </p:spPr>
        <p:txBody>
          <a:bodyPr>
            <a:norm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7F0C3496-EA4B-43E5-9704-968F80A8552C}"/>
              </a:ext>
            </a:extLst>
          </p:cNvPr>
          <p:cNvSpPr>
            <a:spLocks noGrp="1"/>
          </p:cNvSpPr>
          <p:nvPr>
            <p:ph type="body" sz="half" idx="23"/>
          </p:nvPr>
        </p:nvSpPr>
        <p:spPr>
          <a:xfrm>
            <a:off x="7294250" y="2880357"/>
            <a:ext cx="4057961" cy="1431234"/>
          </a:xfrm>
        </p:spPr>
        <p:txBody>
          <a:bodyPr/>
          <a:lstStyle>
            <a:lvl1pPr marL="0" indent="0">
              <a:buNone/>
              <a:defRPr sz="160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 28">
            <a:extLst>
              <a:ext uri="{FF2B5EF4-FFF2-40B4-BE49-F238E27FC236}">
                <a16:creationId xmlns:a16="http://schemas.microsoft.com/office/drawing/2014/main" id="{13414E14-9FEB-40F8-AE6E-319637A8F1CB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586106" y="4568018"/>
            <a:ext cx="376237" cy="376237"/>
          </a:xfrm>
        </p:spPr>
        <p:txBody>
          <a:bodyPr>
            <a:norm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8EC97C88-8B4C-4665-845B-95CE8F237779}"/>
              </a:ext>
            </a:extLst>
          </p:cNvPr>
          <p:cNvSpPr>
            <a:spLocks noGrp="1"/>
          </p:cNvSpPr>
          <p:nvPr>
            <p:ph type="body" sz="half" idx="25"/>
          </p:nvPr>
        </p:nvSpPr>
        <p:spPr>
          <a:xfrm>
            <a:off x="7294250" y="4568018"/>
            <a:ext cx="4057961" cy="1431234"/>
          </a:xfrm>
        </p:spPr>
        <p:txBody>
          <a:bodyPr/>
          <a:lstStyle>
            <a:lvl1pPr marL="0" indent="0">
              <a:buNone/>
              <a:defRPr sz="160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56490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CEC732-0DE2-456B-92A1-84321C9BD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816A5B-B156-4DC3-B18E-14F3E59A64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B0252E-67CD-4B33-849F-7B1449CF27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17490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2591E0-5367-4F2F-9C30-2087D79A846D}" type="datetime1">
              <a:rPr lang="en-US" noProof="0" smtClean="0"/>
              <a:pPr/>
              <a:t>4/15/2025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620AD2-E3F8-48CB-8B72-B0945DF534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17490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noProof="0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A5F3BCF-F6FD-4DFF-B0B4-9892C9389344}"/>
              </a:ext>
            </a:extLst>
          </p:cNvPr>
          <p:cNvSpPr/>
          <p:nvPr userDrawn="1"/>
        </p:nvSpPr>
        <p:spPr>
          <a:xfrm>
            <a:off x="11562237" y="6227432"/>
            <a:ext cx="266400" cy="266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5DEFFD-817B-43EC-86F0-34DEA2BA5E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68844" y="6174902"/>
            <a:ext cx="3571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i="1">
                <a:solidFill>
                  <a:schemeClr val="tx2">
                    <a:alpha val="70000"/>
                  </a:schemeClr>
                </a:solidFill>
              </a:defRPr>
            </a:lvl1pPr>
          </a:lstStyle>
          <a:p>
            <a:fld id="{82EE24B5-652C-4DB5-B7C3-B5BBEC1280B1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641015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9" r:id="rId10"/>
    <p:sldLayoutId id="2147483660" r:id="rId11"/>
    <p:sldLayoutId id="2147483661" r:id="rId12"/>
    <p:sldLayoutId id="2147483662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hippopx.com/en/multi-storey-car-park-parking-park-level-park-alternate-space-parking-level-full-328644" TargetMode="Externa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www.goodfreephotos.com/Free-Stock-Photos/hand-holding-an-iphone-with-a-calendar.jpg.php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hyperlink" Target="https://www.freestock.com/free-videos/seamless-looping-3d-rendering-united-states-1409812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7.png"/><Relationship Id="rId4" Type="http://schemas.openxmlformats.org/officeDocument/2006/relationships/hyperlink" Target="https://pixabay.com/photos/multi-storey-car-park-parking-1271917/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4" Type="http://schemas.openxmlformats.org/officeDocument/2006/relationships/hyperlink" Target="https://pixabay.com/de/registrieren-register-tastatur-257986/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4" Type="http://schemas.openxmlformats.org/officeDocument/2006/relationships/hyperlink" Target="https://www.flickr.com/photos/jswaby/8694823979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Relationship Id="rId4" Type="http://schemas.openxmlformats.org/officeDocument/2006/relationships/hyperlink" Target="https://pxhere.com/en/photo/28641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4" Type="http://schemas.openxmlformats.org/officeDocument/2006/relationships/hyperlink" Target="https://www.pexels.com/photo/car-driving-keys-repair-97075/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hyperlink" Target="https://commons.wikimedia.org/wiki/File:EV_charging_stations_Arlington_08_2017_5219.jpg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7.png"/><Relationship Id="rId4" Type="http://schemas.openxmlformats.org/officeDocument/2006/relationships/hyperlink" Target="https://www.wallpaperflare.com/future-castle-hi-tech-bokeh-technology-cyberspace-scanner-wallpaper-bfyry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5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4" Type="http://schemas.openxmlformats.org/officeDocument/2006/relationships/hyperlink" Target="http://pexels.com/photo/parking-multi-storey-car-park-6517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89148EB-B8B6-6C28-15DF-D3180D6ECEBE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/>
          <a:stretch/>
        </p:blipFill>
        <p:spPr>
          <a:xfrm>
            <a:off x="0" y="0"/>
            <a:ext cx="12189460" cy="7287615"/>
          </a:xfrm>
          <a:prstGeom prst="rect">
            <a:avLst/>
          </a:prstGeom>
        </p:spPr>
      </p:pic>
      <p:sp>
        <p:nvSpPr>
          <p:cNvPr id="4" name="object 3" descr="People with documents">
            <a:extLst>
              <a:ext uri="{FF2B5EF4-FFF2-40B4-BE49-F238E27FC236}">
                <a16:creationId xmlns:a16="http://schemas.microsoft.com/office/drawing/2014/main" id="{0CA2E80D-F3EC-4A5F-8E65-56FEA206EE0F}"/>
              </a:ext>
            </a:extLst>
          </p:cNvPr>
          <p:cNvSpPr/>
          <p:nvPr/>
        </p:nvSpPr>
        <p:spPr>
          <a:xfrm>
            <a:off x="0" y="-1"/>
            <a:ext cx="12189460" cy="7287615"/>
          </a:xfrm>
          <a:custGeom>
            <a:avLst/>
            <a:gdLst/>
            <a:ahLst/>
            <a:cxnLst/>
            <a:rect l="l" t="t" r="r" b="b"/>
            <a:pathLst>
              <a:path w="12189460" h="6858000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69999"/>
            </a:schemeClr>
          </a:solidFill>
        </p:spPr>
        <p:txBody>
          <a:bodyPr wrap="square" lIns="0" tIns="0" rIns="0" bIns="0" rtlCol="0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B6C91D-4B22-49F1-9A0B-ABEB9E1F5A2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>
              <a:lnSpc>
                <a:spcPct val="125000"/>
              </a:lnSpc>
            </a:pPr>
            <a:r>
              <a:rPr lang="en-US" sz="5000" dirty="0">
                <a:latin typeface="Gill Sans MT" panose="020B0502020104020203" pitchFamily="34" charset="0"/>
              </a:rPr>
              <a:t>QUICK PART ASSIST</a:t>
            </a:r>
            <a:br>
              <a:rPr lang="en-US" sz="5000" dirty="0">
                <a:latin typeface="Gill Sans MT" panose="020B0502020104020203" pitchFamily="34" charset="0"/>
              </a:rPr>
            </a:br>
            <a:r>
              <a:rPr lang="en-US" sz="5000" dirty="0">
                <a:latin typeface="Gill Sans MT" panose="020B0502020104020203" pitchFamily="34" charset="0"/>
              </a:rPr>
              <a:t>APPLICATION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8CF06A-B594-4BA2-8B1E-D649096D74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67562"/>
            <a:ext cx="9144000" cy="2128047"/>
          </a:xfrm>
          <a:solidFill>
            <a:schemeClr val="accent2">
              <a:alpha val="90000"/>
            </a:schemeClr>
          </a:solidFill>
        </p:spPr>
        <p:txBody>
          <a:bodyPr anchor="ctr" anchorCtr="0">
            <a:normAutofit/>
          </a:bodyPr>
          <a:lstStyle/>
          <a:p>
            <a:r>
              <a:rPr lang="en-US" sz="2000" dirty="0"/>
              <a:t>A Convenient Parking and EV Charging Solution</a:t>
            </a:r>
          </a:p>
          <a:p>
            <a:r>
              <a:rPr lang="en-US" sz="2000" b="1" i="1" spc="65" dirty="0">
                <a:latin typeface="Arial"/>
                <a:cs typeface="Arial"/>
              </a:rPr>
              <a:t>Presented by:</a:t>
            </a:r>
          </a:p>
          <a:p>
            <a:r>
              <a:rPr lang="en-US" sz="2000" b="1" i="1" spc="65" dirty="0">
                <a:latin typeface="Arial"/>
                <a:cs typeface="Arial"/>
              </a:rPr>
              <a:t>                 </a:t>
            </a:r>
            <a:r>
              <a:rPr lang="en-US" sz="1600" b="1" i="1" spc="65" dirty="0">
                <a:latin typeface="Arial"/>
                <a:cs typeface="Arial"/>
              </a:rPr>
              <a:t>Vanshika Yadav(0205CS211117)</a:t>
            </a:r>
          </a:p>
          <a:p>
            <a:r>
              <a:rPr lang="en-US" sz="1600" dirty="0"/>
              <a:t>               Raja Shoaib(0205CS223D07)</a:t>
            </a:r>
            <a:endParaRPr lang="en-US" sz="1600" b="1" i="1" spc="65" dirty="0">
              <a:latin typeface="Arial"/>
              <a:cs typeface="Arial"/>
            </a:endParaRPr>
          </a:p>
          <a:p>
            <a:r>
              <a:rPr lang="en-US" sz="1600" b="1" i="1" spc="65" dirty="0">
                <a:latin typeface="Arial"/>
                <a:cs typeface="Arial"/>
              </a:rPr>
              <a:t>                          </a:t>
            </a:r>
            <a:r>
              <a:rPr lang="en-US" sz="1600" b="1" i="1" spc="65" dirty="0" err="1">
                <a:latin typeface="Arial"/>
                <a:cs typeface="Arial"/>
              </a:rPr>
              <a:t>Swechchha</a:t>
            </a:r>
            <a:r>
              <a:rPr lang="en-US" sz="1600" b="1" i="1" spc="65" dirty="0">
                <a:latin typeface="Arial"/>
                <a:cs typeface="Arial"/>
              </a:rPr>
              <a:t> Agrawal(0205CS211112)</a:t>
            </a:r>
          </a:p>
        </p:txBody>
      </p:sp>
      <p:sp>
        <p:nvSpPr>
          <p:cNvPr id="6" name="object 7" descr="Beige rectangle">
            <a:extLst>
              <a:ext uri="{FF2B5EF4-FFF2-40B4-BE49-F238E27FC236}">
                <a16:creationId xmlns:a16="http://schemas.microsoft.com/office/drawing/2014/main" id="{B36975AA-C62E-46BE-9382-E2CF56FDF817}"/>
              </a:ext>
            </a:extLst>
          </p:cNvPr>
          <p:cNvSpPr/>
          <p:nvPr/>
        </p:nvSpPr>
        <p:spPr>
          <a:xfrm>
            <a:off x="3108000" y="3229869"/>
            <a:ext cx="5976000" cy="0"/>
          </a:xfrm>
          <a:custGeom>
            <a:avLst/>
            <a:gdLst/>
            <a:ahLst/>
            <a:cxnLst/>
            <a:rect l="l" t="t" r="r" b="b"/>
            <a:pathLst>
              <a:path w="3935729">
                <a:moveTo>
                  <a:pt x="0" y="0"/>
                </a:moveTo>
                <a:lnTo>
                  <a:pt x="3935349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35560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 descr="Beige rectangle">
            <a:extLst>
              <a:ext uri="{FF2B5EF4-FFF2-40B4-BE49-F238E27FC236}">
                <a16:creationId xmlns:a16="http://schemas.microsoft.com/office/drawing/2014/main" id="{DCF29767-6635-4A46-AB77-672CC90C6FBE}"/>
              </a:ext>
            </a:extLst>
          </p:cNvPr>
          <p:cNvSpPr/>
          <p:nvPr/>
        </p:nvSpPr>
        <p:spPr>
          <a:xfrm>
            <a:off x="4432301" y="419106"/>
            <a:ext cx="7759699" cy="5789219"/>
          </a:xfrm>
          <a:custGeom>
            <a:avLst/>
            <a:gdLst/>
            <a:ahLst/>
            <a:cxnLst/>
            <a:rect l="l" t="t" r="r" b="b"/>
            <a:pathLst>
              <a:path w="4010659" h="333375">
                <a:moveTo>
                  <a:pt x="0" y="333006"/>
                </a:moveTo>
                <a:lnTo>
                  <a:pt x="4010367" y="333006"/>
                </a:lnTo>
                <a:lnTo>
                  <a:pt x="4010367" y="0"/>
                </a:lnTo>
                <a:lnTo>
                  <a:pt x="0" y="0"/>
                </a:lnTo>
                <a:lnTo>
                  <a:pt x="0" y="333006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4D506CC-0185-443E-82C7-1600C21D6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6" name="object 6" descr="Blue rectangle">
            <a:extLst>
              <a:ext uri="{FF2B5EF4-FFF2-40B4-BE49-F238E27FC236}">
                <a16:creationId xmlns:a16="http://schemas.microsoft.com/office/drawing/2014/main" id="{9FABC344-E043-45BE-8588-06C658DBCE70}"/>
              </a:ext>
            </a:extLst>
          </p:cNvPr>
          <p:cNvSpPr/>
          <p:nvPr/>
        </p:nvSpPr>
        <p:spPr>
          <a:xfrm>
            <a:off x="2743200" y="649675"/>
            <a:ext cx="9448800" cy="5389764"/>
          </a:xfrm>
          <a:custGeom>
            <a:avLst/>
            <a:gdLst/>
            <a:ahLst/>
            <a:cxnLst/>
            <a:rect l="l" t="t" r="r" b="b"/>
            <a:pathLst>
              <a:path w="6689725" h="3528060">
                <a:moveTo>
                  <a:pt x="0" y="3527996"/>
                </a:moveTo>
                <a:lnTo>
                  <a:pt x="6689648" y="3527996"/>
                </a:lnTo>
                <a:lnTo>
                  <a:pt x="6689648" y="0"/>
                </a:lnTo>
                <a:lnTo>
                  <a:pt x="0" y="0"/>
                </a:lnTo>
                <a:lnTo>
                  <a:pt x="0" y="3527996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lIns="0" tIns="0" rIns="0" bIns="0" rtlCol="0"/>
          <a:lstStyle/>
          <a:p>
            <a:endParaRPr lang="en-US" dirty="0"/>
          </a:p>
        </p:txBody>
      </p:sp>
      <p:sp>
        <p:nvSpPr>
          <p:cNvPr id="7" name="object 9" descr="Beige rectangle">
            <a:extLst>
              <a:ext uri="{FF2B5EF4-FFF2-40B4-BE49-F238E27FC236}">
                <a16:creationId xmlns:a16="http://schemas.microsoft.com/office/drawing/2014/main" id="{02C6628C-972C-4717-AAF3-D882B30F6658}"/>
              </a:ext>
            </a:extLst>
          </p:cNvPr>
          <p:cNvSpPr/>
          <p:nvPr/>
        </p:nvSpPr>
        <p:spPr>
          <a:xfrm>
            <a:off x="3524165" y="2061887"/>
            <a:ext cx="2988000" cy="0"/>
          </a:xfrm>
          <a:custGeom>
            <a:avLst/>
            <a:gdLst/>
            <a:ahLst/>
            <a:cxnLst/>
            <a:rect l="l" t="t" r="r" b="b"/>
            <a:pathLst>
              <a:path w="2642870">
                <a:moveTo>
                  <a:pt x="0" y="0"/>
                </a:moveTo>
                <a:lnTo>
                  <a:pt x="2642616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lang="en-US" dirty="0"/>
          </a:p>
        </p:txBody>
      </p:sp>
      <p:sp>
        <p:nvSpPr>
          <p:cNvPr id="18" name="object 3" descr="People with documents">
            <a:extLst>
              <a:ext uri="{FF2B5EF4-FFF2-40B4-BE49-F238E27FC236}">
                <a16:creationId xmlns:a16="http://schemas.microsoft.com/office/drawing/2014/main" id="{FD279ED8-87CB-D4AA-7E08-7DEA14741599}"/>
              </a:ext>
            </a:extLst>
          </p:cNvPr>
          <p:cNvSpPr/>
          <p:nvPr/>
        </p:nvSpPr>
        <p:spPr>
          <a:xfrm>
            <a:off x="0" y="-23968"/>
            <a:ext cx="2470826" cy="6881968"/>
          </a:xfrm>
          <a:custGeom>
            <a:avLst/>
            <a:gdLst/>
            <a:ahLst/>
            <a:cxnLst/>
            <a:rect l="l" t="t" r="r" b="b"/>
            <a:pathLst>
              <a:path w="12189460" h="6858000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69999"/>
            </a:schemeClr>
          </a:solidFill>
        </p:spPr>
        <p:txBody>
          <a:bodyPr wrap="square" lIns="0" tIns="0" rIns="0" bIns="0" rtlCol="0"/>
          <a:lstStyle/>
          <a:p>
            <a:endParaRPr lang="en-US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E7A818AB-B120-41D5-88A6-933AB9CAAE68}"/>
              </a:ext>
            </a:extLst>
          </p:cNvPr>
          <p:cNvSpPr txBox="1">
            <a:spLocks/>
          </p:cNvSpPr>
          <p:nvPr/>
        </p:nvSpPr>
        <p:spPr>
          <a:xfrm>
            <a:off x="3146593" y="2427893"/>
            <a:ext cx="8679368" cy="3724296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i="1" spc="-25" dirty="0">
                <a:solidFill>
                  <a:schemeClr val="bg2">
                    <a:lumMod val="20000"/>
                    <a:lumOff val="80000"/>
                  </a:schemeClr>
                </a:solidFill>
                <a:latin typeface="Arial"/>
                <a:cs typeface="Arial"/>
              </a:rPr>
              <a:t>In today's fast-paced world, finding a convenient parking spot is a daily challenge for professionals and vehicle owners.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i="1" spc="-25" dirty="0">
                <a:solidFill>
                  <a:schemeClr val="bg2">
                    <a:lumMod val="20000"/>
                    <a:lumOff val="80000"/>
                  </a:schemeClr>
                </a:solidFill>
                <a:latin typeface="Arial"/>
                <a:cs typeface="Arial"/>
              </a:rPr>
              <a:t>The Smart Parking Spots Application aims to revolutionize the way we manage parking by providing an all-in-one platform for:</a:t>
            </a:r>
          </a:p>
          <a:p>
            <a:pPr>
              <a:lnSpc>
                <a:spcPct val="100000"/>
              </a:lnSpc>
            </a:pPr>
            <a:r>
              <a:rPr lang="en-US" i="1" spc="-25" dirty="0">
                <a:solidFill>
                  <a:schemeClr val="bg2">
                    <a:lumMod val="20000"/>
                    <a:lumOff val="80000"/>
                  </a:schemeClr>
                </a:solidFill>
                <a:latin typeface="Arial"/>
                <a:cs typeface="Arial"/>
              </a:rPr>
              <a:t>Effortlessly searching for available parking spots.</a:t>
            </a:r>
          </a:p>
          <a:p>
            <a:pPr>
              <a:lnSpc>
                <a:spcPct val="100000"/>
              </a:lnSpc>
            </a:pPr>
            <a:r>
              <a:rPr lang="en-US" i="1" spc="-25" dirty="0">
                <a:solidFill>
                  <a:schemeClr val="bg2">
                    <a:lumMod val="20000"/>
                    <a:lumOff val="80000"/>
                  </a:schemeClr>
                </a:solidFill>
                <a:latin typeface="Arial"/>
                <a:cs typeface="Arial"/>
              </a:rPr>
              <a:t>Seamlessly booking parking spaces with add-on services like EV charging and car cleaning.</a:t>
            </a:r>
          </a:p>
          <a:p>
            <a:pPr>
              <a:lnSpc>
                <a:spcPct val="100000"/>
              </a:lnSpc>
            </a:pPr>
            <a:r>
              <a:rPr lang="en-US" i="1" spc="-25" dirty="0">
                <a:solidFill>
                  <a:schemeClr val="bg2">
                    <a:lumMod val="20000"/>
                    <a:lumOff val="80000"/>
                  </a:schemeClr>
                </a:solidFill>
                <a:latin typeface="Arial"/>
                <a:cs typeface="Arial"/>
              </a:rPr>
              <a:t>Enabling parking spot owners to list and manage their spots with ease.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i="1" spc="-25" dirty="0">
                <a:solidFill>
                  <a:schemeClr val="bg2">
                    <a:lumMod val="20000"/>
                    <a:lumOff val="80000"/>
                  </a:schemeClr>
                </a:solidFill>
                <a:latin typeface="Arial"/>
                <a:cs typeface="Arial"/>
              </a:rPr>
              <a:t>This innovative solution brings together advanced technology and user-friendly design to deliver a hassle-free experience for both vehicle owners and parking spot providers.</a:t>
            </a:r>
            <a:br>
              <a:rPr lang="en-US" i="1" spc="-25" dirty="0">
                <a:solidFill>
                  <a:schemeClr val="bg2">
                    <a:lumMod val="20000"/>
                    <a:lumOff val="80000"/>
                  </a:schemeClr>
                </a:solidFill>
                <a:latin typeface="Arial"/>
                <a:cs typeface="Arial"/>
              </a:rPr>
            </a:br>
            <a:endParaRPr lang="en-US" sz="500" i="1" spc="-25" dirty="0">
              <a:solidFill>
                <a:schemeClr val="bg2">
                  <a:lumMod val="20000"/>
                  <a:lumOff val="80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5C5720-51D4-4632-91CD-936B8AB96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6592" y="1285047"/>
            <a:ext cx="5165558" cy="833856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INTRODUCTION</a:t>
            </a:r>
            <a:endParaRPr lang="en-US" dirty="0">
              <a:latin typeface="Gill Sans MT" panose="020B0502020104020203" pitchFamily="34" charset="0"/>
            </a:endParaRPr>
          </a:p>
        </p:txBody>
      </p:sp>
      <p:pic>
        <p:nvPicPr>
          <p:cNvPr id="27" name="Graphic 26" descr="User">
            <a:extLst>
              <a:ext uri="{FF2B5EF4-FFF2-40B4-BE49-F238E27FC236}">
                <a16:creationId xmlns:a16="http://schemas.microsoft.com/office/drawing/2014/main" id="{7B3C5269-2420-53DA-A21C-1853220B9F0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3950" y="1499062"/>
            <a:ext cx="447586" cy="447586"/>
          </a:xfrm>
          <a:prstGeom prst="rect">
            <a:avLst/>
          </a:prstGeom>
        </p:spPr>
      </p:pic>
      <p:sp>
        <p:nvSpPr>
          <p:cNvPr id="28" name="Title 1">
            <a:extLst>
              <a:ext uri="{FF2B5EF4-FFF2-40B4-BE49-F238E27FC236}">
                <a16:creationId xmlns:a16="http://schemas.microsoft.com/office/drawing/2014/main" id="{B2D4601F-11CA-2CBD-96A5-4DD639568038}"/>
              </a:ext>
            </a:extLst>
          </p:cNvPr>
          <p:cNvSpPr txBox="1">
            <a:spLocks/>
          </p:cNvSpPr>
          <p:nvPr/>
        </p:nvSpPr>
        <p:spPr>
          <a:xfrm>
            <a:off x="248478" y="425882"/>
            <a:ext cx="2293026" cy="8773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dirty="0">
                <a:solidFill>
                  <a:schemeClr val="bg1"/>
                </a:solidFill>
              </a:rPr>
              <a:t>Application Enables User To:</a:t>
            </a:r>
            <a:endParaRPr lang="en-US" sz="1600" dirty="0">
              <a:latin typeface="Gill Sans MT" panose="020B0502020104020203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263A6FE-B071-07F7-241A-AA9EC2106824}"/>
              </a:ext>
            </a:extLst>
          </p:cNvPr>
          <p:cNvSpPr txBox="1"/>
          <p:nvPr/>
        </p:nvSpPr>
        <p:spPr>
          <a:xfrm>
            <a:off x="592538" y="1337551"/>
            <a:ext cx="17674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IN" dirty="0"/>
              <a:t>Register as - Vehicle/ Parking Spot Owner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815F137-D987-96D3-02BD-A957A7B79F12}"/>
              </a:ext>
            </a:extLst>
          </p:cNvPr>
          <p:cNvSpPr txBox="1"/>
          <p:nvPr/>
        </p:nvSpPr>
        <p:spPr>
          <a:xfrm>
            <a:off x="565425" y="2257298"/>
            <a:ext cx="18807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Add/ Book - Parking Spots/ Services/ EV Slots</a:t>
            </a:r>
            <a:endParaRPr lang="en-IN" dirty="0"/>
          </a:p>
        </p:txBody>
      </p:sp>
      <p:pic>
        <p:nvPicPr>
          <p:cNvPr id="37" name="Graphic 36" descr="Single gear">
            <a:extLst>
              <a:ext uri="{FF2B5EF4-FFF2-40B4-BE49-F238E27FC236}">
                <a16:creationId xmlns:a16="http://schemas.microsoft.com/office/drawing/2014/main" id="{17127D27-C1DD-1FD0-C2E6-6E5628F23B6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8158" y="4471696"/>
            <a:ext cx="444380" cy="444380"/>
          </a:xfrm>
          <a:prstGeom prst="rect">
            <a:avLst/>
          </a:prstGeom>
        </p:spPr>
      </p:pic>
      <p:pic>
        <p:nvPicPr>
          <p:cNvPr id="39" name="Graphic 38" descr="Magnifying glass">
            <a:extLst>
              <a:ext uri="{FF2B5EF4-FFF2-40B4-BE49-F238E27FC236}">
                <a16:creationId xmlns:a16="http://schemas.microsoft.com/office/drawing/2014/main" id="{CD84A25E-87AF-4E3F-4924-2ABF20BF8EF7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77424" y="3425712"/>
            <a:ext cx="404907" cy="404907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711EF25C-68EF-F011-3B81-810C82232DF4}"/>
              </a:ext>
            </a:extLst>
          </p:cNvPr>
          <p:cNvSpPr txBox="1"/>
          <p:nvPr/>
        </p:nvSpPr>
        <p:spPr>
          <a:xfrm>
            <a:off x="558400" y="3132262"/>
            <a:ext cx="172408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Search/ View - Parking Spots/ EV Slots/ Services</a:t>
            </a:r>
            <a:endParaRPr lang="en-IN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5FCE35F-ABC4-AEBB-2C97-0CD134229D3B}"/>
              </a:ext>
            </a:extLst>
          </p:cNvPr>
          <p:cNvSpPr txBox="1"/>
          <p:nvPr/>
        </p:nvSpPr>
        <p:spPr>
          <a:xfrm>
            <a:off x="573039" y="4251850"/>
            <a:ext cx="170944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IN" dirty="0"/>
              <a:t>Modify - </a:t>
            </a:r>
            <a:r>
              <a:rPr lang="en-US" sz="1600" dirty="0"/>
              <a:t> Parking Spots/ Services/ EV Slots/ User Profiles</a:t>
            </a:r>
            <a:r>
              <a:rPr lang="en-IN" dirty="0"/>
              <a:t> </a:t>
            </a:r>
          </a:p>
        </p:txBody>
      </p:sp>
      <p:pic>
        <p:nvPicPr>
          <p:cNvPr id="47" name="Graphic 46" descr="Sign">
            <a:extLst>
              <a:ext uri="{FF2B5EF4-FFF2-40B4-BE49-F238E27FC236}">
                <a16:creationId xmlns:a16="http://schemas.microsoft.com/office/drawing/2014/main" id="{07C28A3B-8B6C-9388-FBD4-F6644C9BDEB2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3919" y="2418067"/>
            <a:ext cx="499620" cy="49962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462672B-C927-0059-F29A-8619E7A0E27E}"/>
              </a:ext>
            </a:extLst>
          </p:cNvPr>
          <p:cNvSpPr txBox="1"/>
          <p:nvPr/>
        </p:nvSpPr>
        <p:spPr>
          <a:xfrm>
            <a:off x="565425" y="5415405"/>
            <a:ext cx="170944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IN" dirty="0"/>
              <a:t>Delete</a:t>
            </a:r>
            <a:r>
              <a:rPr lang="en-US" dirty="0"/>
              <a:t> - </a:t>
            </a:r>
            <a:r>
              <a:rPr lang="en-US" sz="1600" dirty="0"/>
              <a:t>Parking Spots/ Services/ EV Slots/ User </a:t>
            </a:r>
            <a:r>
              <a:rPr lang="en-IN" sz="1600" dirty="0"/>
              <a:t>Account</a:t>
            </a:r>
            <a:endParaRPr lang="en-IN" dirty="0"/>
          </a:p>
        </p:txBody>
      </p:sp>
      <p:pic>
        <p:nvPicPr>
          <p:cNvPr id="10" name="Graphic 9" descr="Close">
            <a:extLst>
              <a:ext uri="{FF2B5EF4-FFF2-40B4-BE49-F238E27FC236}">
                <a16:creationId xmlns:a16="http://schemas.microsoft.com/office/drawing/2014/main" id="{5A3FDA83-5091-975D-4E1C-F3D18ABB5E3C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63123" y="5674957"/>
            <a:ext cx="414450" cy="414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9497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966F6864-DC3A-AA06-8AC0-3989142EC56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0" y="0"/>
            <a:ext cx="12197115" cy="6858000"/>
          </a:xfrm>
          <a:prstGeom prst="rect">
            <a:avLst/>
          </a:prstGeom>
        </p:spPr>
      </p:pic>
      <p:sp>
        <p:nvSpPr>
          <p:cNvPr id="8" name="object 3" descr="Blue rectangle">
            <a:extLst>
              <a:ext uri="{FF2B5EF4-FFF2-40B4-BE49-F238E27FC236}">
                <a16:creationId xmlns:a16="http://schemas.microsoft.com/office/drawing/2014/main" id="{A277388B-76FD-44C4-B506-F8A157E57C65}"/>
              </a:ext>
            </a:extLst>
          </p:cNvPr>
          <p:cNvSpPr/>
          <p:nvPr/>
        </p:nvSpPr>
        <p:spPr>
          <a:xfrm>
            <a:off x="-12496" y="-18736"/>
            <a:ext cx="12204496" cy="6876735"/>
          </a:xfrm>
          <a:custGeom>
            <a:avLst/>
            <a:gdLst/>
            <a:ahLst/>
            <a:cxnLst/>
            <a:rect l="l" t="t" r="r" b="b"/>
            <a:pathLst>
              <a:path w="12189460" h="6858000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69999"/>
            </a:schemeClr>
          </a:solidFill>
        </p:spPr>
        <p:txBody>
          <a:bodyPr wrap="square" lIns="0" tIns="0" rIns="0" bIns="0" rtlCol="0"/>
          <a:lstStyle/>
          <a:p>
            <a:endParaRPr lang="en-US" dirty="0"/>
          </a:p>
        </p:txBody>
      </p:sp>
      <p:sp>
        <p:nvSpPr>
          <p:cNvPr id="9" name="Oval 8" descr="Beige oval">
            <a:extLst>
              <a:ext uri="{FF2B5EF4-FFF2-40B4-BE49-F238E27FC236}">
                <a16:creationId xmlns:a16="http://schemas.microsoft.com/office/drawing/2014/main" id="{1191A09B-8CB4-416A-B1F9-ABC3B476DE1F}"/>
              </a:ext>
            </a:extLst>
          </p:cNvPr>
          <p:cNvSpPr/>
          <p:nvPr/>
        </p:nvSpPr>
        <p:spPr>
          <a:xfrm>
            <a:off x="11532369" y="6240380"/>
            <a:ext cx="266400" cy="266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D00B79-44BB-4D5F-B51D-2270A854D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3376" y="18735"/>
            <a:ext cx="10515600" cy="1325563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TECHNOLOGIES USED</a:t>
            </a:r>
            <a:endParaRPr lang="en-US" sz="28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F3C1EE-D9A0-406A-9A3A-75C82527E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76" y="6187850"/>
            <a:ext cx="357116" cy="365125"/>
          </a:xfrm>
        </p:spPr>
        <p:txBody>
          <a:bodyPr/>
          <a:lstStyle/>
          <a:p>
            <a:fld id="{82EE24B5-652C-4DB5-B7C3-B5BBEC1280B1}" type="slidenum">
              <a:rPr lang="en-US" smtClean="0"/>
              <a:pPr/>
              <a:t>3</a:t>
            </a:fld>
            <a:endParaRPr lang="en-US" dirty="0"/>
          </a:p>
        </p:txBody>
      </p:sp>
      <p:graphicFrame>
        <p:nvGraphicFramePr>
          <p:cNvPr id="13" name="Content Placeholder 12" descr="Table">
            <a:extLst>
              <a:ext uri="{FF2B5EF4-FFF2-40B4-BE49-F238E27FC236}">
                <a16:creationId xmlns:a16="http://schemas.microsoft.com/office/drawing/2014/main" id="{1D6AB21B-0AB3-44DD-AD8E-D2EDD77DEA42}"/>
              </a:ext>
            </a:extLst>
          </p:cNvPr>
          <p:cNvGraphicFramePr>
            <a:graphicFrameLocks noGrp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1797688623"/>
              </p:ext>
            </p:extLst>
          </p:nvPr>
        </p:nvGraphicFramePr>
        <p:xfrm>
          <a:off x="489945" y="1170394"/>
          <a:ext cx="11239500" cy="499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9874">
                  <a:extLst>
                    <a:ext uri="{9D8B030D-6E8A-4147-A177-3AD203B41FA5}">
                      <a16:colId xmlns:a16="http://schemas.microsoft.com/office/drawing/2014/main" val="3572385518"/>
                    </a:ext>
                  </a:extLst>
                </a:gridCol>
                <a:gridCol w="2809874">
                  <a:extLst>
                    <a:ext uri="{9D8B030D-6E8A-4147-A177-3AD203B41FA5}">
                      <a16:colId xmlns:a16="http://schemas.microsoft.com/office/drawing/2014/main" val="1440817424"/>
                    </a:ext>
                  </a:extLst>
                </a:gridCol>
                <a:gridCol w="2809878">
                  <a:extLst>
                    <a:ext uri="{9D8B030D-6E8A-4147-A177-3AD203B41FA5}">
                      <a16:colId xmlns:a16="http://schemas.microsoft.com/office/drawing/2014/main" val="1835666774"/>
                    </a:ext>
                  </a:extLst>
                </a:gridCol>
                <a:gridCol w="2809874">
                  <a:extLst>
                    <a:ext uri="{9D8B030D-6E8A-4147-A177-3AD203B41FA5}">
                      <a16:colId xmlns:a16="http://schemas.microsoft.com/office/drawing/2014/main" val="3312468757"/>
                    </a:ext>
                  </a:extLst>
                </a:gridCol>
              </a:tblGrid>
              <a:tr h="558408"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accent1"/>
                          </a:solidFill>
                          <a:latin typeface="+mj-lt"/>
                        </a:rPr>
                        <a:t>Backend</a:t>
                      </a:r>
                      <a:endParaRPr lang="en-US" sz="3200" b="1" dirty="0">
                        <a:solidFill>
                          <a:schemeClr val="accent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solidFill>
                            <a:schemeClr val="accent1"/>
                          </a:solidFill>
                          <a:latin typeface="+mj-lt"/>
                        </a:rPr>
                        <a:t>Frontend 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solidFill>
                            <a:schemeClr val="accent1"/>
                          </a:solidFill>
                          <a:latin typeface="+mj-lt"/>
                        </a:rPr>
                        <a:t>Database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solidFill>
                            <a:schemeClr val="accent1"/>
                          </a:solidFill>
                          <a:latin typeface="+mj-lt"/>
                        </a:rPr>
                        <a:t>Tools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8120738"/>
                  </a:ext>
                </a:extLst>
              </a:tr>
              <a:tr h="426153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800" b="1" i="1" kern="1200" spc="-25" dirty="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latin typeface="+mn-lt"/>
                          <a:ea typeface="+mn-ea"/>
                          <a:cs typeface="Arial"/>
                        </a:rPr>
                        <a:t>Java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400" i="1" kern="1200" spc="-25" dirty="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latin typeface="+mn-lt"/>
                          <a:ea typeface="+mn-ea"/>
                          <a:cs typeface="Arial"/>
                        </a:rPr>
                        <a:t>Version 17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400" i="1" kern="1200" spc="-25" dirty="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latin typeface="+mn-lt"/>
                          <a:ea typeface="+mn-ea"/>
                          <a:cs typeface="Arial"/>
                        </a:rPr>
                        <a:t>(Core Programming Language)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800" b="1" i="1" kern="1200" spc="-25" dirty="0"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  <a:latin typeface="+mn-lt"/>
                        <a:ea typeface="+mn-ea"/>
                        <a:cs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800" b="1" i="1" kern="1200" spc="-25" dirty="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latin typeface="+mn-lt"/>
                          <a:ea typeface="+mn-ea"/>
                          <a:cs typeface="Arial"/>
                        </a:rPr>
                        <a:t>Spring Boot</a:t>
                      </a:r>
                      <a:br>
                        <a:rPr lang="da-DK" sz="1800" b="1" i="1" kern="1200" spc="-25" dirty="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latin typeface="+mn-lt"/>
                          <a:ea typeface="+mn-ea"/>
                          <a:cs typeface="Arial"/>
                        </a:rPr>
                      </a:br>
                      <a:r>
                        <a:rPr lang="da-DK" sz="1400" i="1" kern="1200" spc="-25" dirty="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latin typeface="+mn-lt"/>
                          <a:ea typeface="+mn-ea"/>
                          <a:cs typeface="Arial"/>
                        </a:rPr>
                        <a:t>Spring Boot Data JPA – Version 3.4.2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i="1" kern="1200" spc="-25" dirty="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latin typeface="+mn-lt"/>
                          <a:ea typeface="+mn-ea"/>
                          <a:cs typeface="Arial"/>
                        </a:rPr>
                        <a:t>Spring Boot REST Services –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i="1" kern="1200" spc="-25" dirty="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latin typeface="+mn-lt"/>
                          <a:ea typeface="+mn-ea"/>
                          <a:cs typeface="Arial"/>
                        </a:rPr>
                        <a:t>Version 3.4.2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i="1" kern="1200" spc="-25" dirty="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latin typeface="+mn-lt"/>
                          <a:ea typeface="+mn-ea"/>
                          <a:cs typeface="Arial"/>
                        </a:rPr>
                        <a:t>(Framework for REST APIs and Data JPA)</a:t>
                      </a:r>
                      <a:endParaRPr lang="da-DK" sz="1400" i="1" kern="1200" spc="-25" dirty="0"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  <a:latin typeface="+mn-lt"/>
                        <a:ea typeface="+mn-ea"/>
                        <a:cs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a-DK" sz="1800" b="1" i="1" u="none" strike="noStrike" kern="1200" cap="none" spc="-25" normalizeH="0" baseline="0" noProof="0" dirty="0">
                          <a:ln>
                            <a:noFill/>
                          </a:ln>
                          <a:solidFill>
                            <a:srgbClr val="64B2C1">
                              <a:lumMod val="20000"/>
                              <a:lumOff val="80000"/>
                            </a:srgb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/>
                        </a:rPr>
                        <a:t>Thymeleaf</a:t>
                      </a:r>
                      <a:r>
                        <a:rPr kumimoji="0" lang="da-DK" sz="1800" b="1" i="1" u="none" strike="noStrike" kern="1200" cap="none" spc="-25" normalizeH="0" baseline="0" noProof="0" dirty="0">
                          <a:ln>
                            <a:noFill/>
                          </a:ln>
                          <a:solidFill>
                            <a:srgbClr val="64B2C1">
                              <a:lumMod val="20000"/>
                              <a:lumOff val="80000"/>
                            </a:srgbClr>
                          </a:solidFill>
                          <a:effectLst/>
                          <a:uLnTx/>
                          <a:uFillTx/>
                          <a:latin typeface="Arial "/>
                          <a:ea typeface="+mn-ea"/>
                          <a:cs typeface="Arial"/>
                        </a:rPr>
                        <a:t>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400" i="1" kern="1200" spc="-25" noProof="0" dirty="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latin typeface="+mn-lt"/>
                          <a:ea typeface="+mn-ea"/>
                          <a:cs typeface="Arial"/>
                        </a:rPr>
                        <a:t>Version 3.1.3.RELEASE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i="1" kern="1200" spc="-25" dirty="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latin typeface="+mn-lt"/>
                          <a:ea typeface="+mn-ea"/>
                          <a:cs typeface="Arial"/>
                        </a:rPr>
                        <a:t>(Server-side Templating Engine)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1400" i="1" kern="1200" spc="-25" noProof="0" dirty="0"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  <a:latin typeface="+mn-lt"/>
                        <a:ea typeface="+mn-ea"/>
                        <a:cs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a-DK" sz="1800" b="1" i="1" u="none" strike="noStrike" kern="1200" cap="none" spc="-25" normalizeH="0" baseline="0" noProof="0" dirty="0">
                          <a:ln>
                            <a:noFill/>
                          </a:ln>
                          <a:solidFill>
                            <a:srgbClr val="64B2C1">
                              <a:lumMod val="20000"/>
                              <a:lumOff val="80000"/>
                            </a:srgb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/>
                        </a:rPr>
                        <a:t>HTML, CSS &amp; JavaScript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i="1" kern="1200" spc="-25" dirty="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latin typeface="+mn-lt"/>
                          <a:ea typeface="+mn-ea"/>
                          <a:cs typeface="Arial"/>
                        </a:rPr>
                        <a:t>(Web Design and Layout)</a:t>
                      </a:r>
                      <a:endParaRPr lang="en-US" sz="1400" i="1" kern="1200" spc="-25" dirty="0"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  <a:latin typeface="+mn-lt"/>
                        <a:ea typeface="+mn-ea"/>
                        <a:cs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a-DK" sz="1800" b="1" i="1" u="none" strike="noStrike" kern="1200" cap="none" spc="-25" normalizeH="0" baseline="0" noProof="0" dirty="0">
                          <a:ln>
                            <a:noFill/>
                          </a:ln>
                          <a:solidFill>
                            <a:srgbClr val="64B2C1">
                              <a:lumMod val="20000"/>
                              <a:lumOff val="80000"/>
                            </a:srgb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/>
                        </a:rPr>
                        <a:t>MySQL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i="1" kern="1200" spc="-25" dirty="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latin typeface="+mn-lt"/>
                          <a:ea typeface="+mn-ea"/>
                          <a:cs typeface="Arial"/>
                        </a:rPr>
                        <a:t>Version 8.0.32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i="1" kern="1200" spc="-25" dirty="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latin typeface="+mn-lt"/>
                          <a:ea typeface="+mn-ea"/>
                          <a:cs typeface="Arial"/>
                        </a:rPr>
                        <a:t>(Relational Database for storing user, parking, and booking data)</a:t>
                      </a:r>
                      <a:endParaRPr lang="en-US" sz="1400" i="1" kern="1200" spc="-25" dirty="0"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  <a:latin typeface="+mn-lt"/>
                        <a:ea typeface="+mn-ea"/>
                        <a:cs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1" u="none" strike="noStrike" kern="1200" cap="none" spc="-25" normalizeH="0" baseline="0" noProof="0" dirty="0">
                          <a:ln>
                            <a:noFill/>
                          </a:ln>
                          <a:solidFill>
                            <a:srgbClr val="64B2C1">
                              <a:lumMod val="20000"/>
                              <a:lumOff val="80000"/>
                            </a:srgb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/>
                        </a:rPr>
                        <a:t>SonarQube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i="1" kern="1200" spc="-25" dirty="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latin typeface="+mn-lt"/>
                          <a:ea typeface="+mn-ea"/>
                          <a:cs typeface="Arial"/>
                        </a:rPr>
                        <a:t> Version 9.9.8</a:t>
                      </a:r>
                      <a:endParaRPr lang="en-US" sz="1400" i="1" kern="1200" spc="-25" dirty="0"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  <a:latin typeface="+mn-lt"/>
                        <a:ea typeface="+mn-ea"/>
                        <a:cs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i="1" kern="1200" spc="-25" dirty="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latin typeface="+mn-lt"/>
                          <a:ea typeface="+mn-ea"/>
                          <a:cs typeface="Arial"/>
                        </a:rPr>
                        <a:t>(Code Quality Analysis and Bug Detection)</a:t>
                      </a:r>
                      <a:endParaRPr kumimoji="0" lang="en-US" sz="1400" b="0" i="1" u="none" strike="noStrike" kern="1200" cap="none" spc="-25" normalizeH="0" baseline="0" noProof="0" dirty="0">
                        <a:ln>
                          <a:noFill/>
                        </a:ln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1" i="1" u="none" strike="noStrike" kern="1200" cap="none" spc="-25" normalizeH="0" baseline="0" noProof="0" dirty="0">
                        <a:ln>
                          <a:noFill/>
                        </a:ln>
                        <a:solidFill>
                          <a:srgbClr val="64B2C1">
                            <a:lumMod val="20000"/>
                            <a:lumOff val="80000"/>
                          </a:srgbClr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1" u="none" strike="noStrike" kern="1200" cap="none" spc="-25" normalizeH="0" baseline="0" noProof="0" dirty="0">
                          <a:ln>
                            <a:noFill/>
                          </a:ln>
                          <a:solidFill>
                            <a:srgbClr val="64B2C1">
                              <a:lumMod val="20000"/>
                              <a:lumOff val="80000"/>
                            </a:srgb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/>
                        </a:rPr>
                        <a:t>Swagger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i="1" kern="1200" spc="-25" dirty="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latin typeface="+mn-lt"/>
                          <a:ea typeface="+mn-ea"/>
                          <a:cs typeface="Arial"/>
                        </a:rPr>
                        <a:t>(API Documentation and Testing)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400" i="1" kern="1200" spc="-25" dirty="0"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  <a:latin typeface="+mn-lt"/>
                        <a:ea typeface="+mn-ea"/>
                        <a:cs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1" i="1" u="none" strike="noStrike" kern="1200" cap="none" spc="-25" normalizeH="0" baseline="0" dirty="0">
                          <a:ln>
                            <a:noFill/>
                          </a:ln>
                          <a:solidFill>
                            <a:srgbClr val="64B2C1">
                              <a:lumMod val="20000"/>
                              <a:lumOff val="80000"/>
                            </a:srgb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/>
                        </a:rPr>
                        <a:t>Splunk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i="1" kern="1200" spc="-25" dirty="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latin typeface="+mn-lt"/>
                          <a:ea typeface="+mn-ea"/>
                          <a:cs typeface="Arial"/>
                        </a:rPr>
                        <a:t>Version 9.4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i="1" kern="1200" spc="-25" dirty="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latin typeface="+mn-lt"/>
                          <a:ea typeface="+mn-ea"/>
                          <a:cs typeface="Arial"/>
                        </a:rPr>
                        <a:t>(Log Monitoring and analysis)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400" i="1" kern="1200" spc="-25" dirty="0"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  <a:latin typeface="+mn-lt"/>
                        <a:ea typeface="+mn-ea"/>
                        <a:cs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1" i="1" u="none" strike="noStrike" kern="1200" cap="none" spc="-25" normalizeH="0" baseline="0" dirty="0">
                          <a:ln>
                            <a:noFill/>
                          </a:ln>
                          <a:solidFill>
                            <a:srgbClr val="64B2C1">
                              <a:lumMod val="20000"/>
                              <a:lumOff val="80000"/>
                            </a:srgb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/>
                        </a:rPr>
                        <a:t>Postman</a:t>
                      </a:r>
                      <a:br>
                        <a:rPr lang="en-IN" sz="1400" i="1" kern="1200" spc="-25" dirty="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latin typeface="+mn-lt"/>
                          <a:ea typeface="+mn-ea"/>
                          <a:cs typeface="Arial"/>
                        </a:rPr>
                      </a:br>
                      <a:r>
                        <a:rPr lang="en-IN" sz="1400" i="1" kern="1200" spc="-25" dirty="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latin typeface="+mn-lt"/>
                          <a:ea typeface="+mn-ea"/>
                          <a:cs typeface="Arial"/>
                        </a:rPr>
                        <a:t>(API Documentation)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400" i="1" kern="1200" spc="-25" dirty="0"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  <a:latin typeface="+mn-lt"/>
                        <a:ea typeface="+mn-ea"/>
                        <a:cs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1" i="1" u="none" strike="noStrike" kern="1200" cap="none" spc="-25" normalizeH="0" baseline="0" dirty="0">
                          <a:ln>
                            <a:noFill/>
                          </a:ln>
                          <a:solidFill>
                            <a:srgbClr val="64B2C1">
                              <a:lumMod val="20000"/>
                              <a:lumOff val="80000"/>
                            </a:srgb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/>
                        </a:rPr>
                        <a:t>Grafana + Prometheus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i="1" kern="1200" spc="-25" dirty="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latin typeface="+mn-lt"/>
                          <a:ea typeface="+mn-ea"/>
                          <a:cs typeface="Arial"/>
                        </a:rPr>
                        <a:t>(</a:t>
                      </a:r>
                      <a:r>
                        <a:rPr lang="en-IN" sz="1400" i="1" kern="1200" spc="-25" dirty="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  <a:latin typeface="+mn-lt"/>
                          <a:ea typeface="+mn-ea"/>
                          <a:cs typeface="Arial"/>
                        </a:rPr>
                        <a:t>Application Monitoring)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1" i="1" u="none" strike="noStrike" kern="1200" cap="none" spc="-25" normalizeH="0" baseline="0" dirty="0">
                        <a:ln>
                          <a:noFill/>
                        </a:ln>
                        <a:solidFill>
                          <a:srgbClr val="64B2C1">
                            <a:lumMod val="20000"/>
                            <a:lumOff val="80000"/>
                          </a:srgbClr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5001753"/>
                  </a:ext>
                </a:extLst>
              </a:tr>
            </a:tbl>
          </a:graphicData>
        </a:graphic>
      </p:graphicFrame>
      <p:sp>
        <p:nvSpPr>
          <p:cNvPr id="11" name="object 5" descr="Beige rectangle">
            <a:extLst>
              <a:ext uri="{FF2B5EF4-FFF2-40B4-BE49-F238E27FC236}">
                <a16:creationId xmlns:a16="http://schemas.microsoft.com/office/drawing/2014/main" id="{B07BA1F9-2C19-4C07-B29B-18B9FBCC4755}"/>
              </a:ext>
            </a:extLst>
          </p:cNvPr>
          <p:cNvSpPr/>
          <p:nvPr/>
        </p:nvSpPr>
        <p:spPr>
          <a:xfrm flipV="1">
            <a:off x="923376" y="855176"/>
            <a:ext cx="4182475" cy="71990"/>
          </a:xfrm>
          <a:custGeom>
            <a:avLst/>
            <a:gdLst/>
            <a:ahLst/>
            <a:cxnLst/>
            <a:rect l="l" t="t" r="r" b="b"/>
            <a:pathLst>
              <a:path w="3931920">
                <a:moveTo>
                  <a:pt x="0" y="0"/>
                </a:moveTo>
                <a:lnTo>
                  <a:pt x="3931920" y="0"/>
                </a:lnTo>
              </a:path>
            </a:pathLst>
          </a:custGeom>
          <a:ln w="54864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lang="en-US" sz="1600" dirty="0"/>
          </a:p>
        </p:txBody>
      </p:sp>
      <p:cxnSp>
        <p:nvCxnSpPr>
          <p:cNvPr id="10" name="Straight Connector 9" descr="Line">
            <a:extLst>
              <a:ext uri="{FF2B5EF4-FFF2-40B4-BE49-F238E27FC236}">
                <a16:creationId xmlns:a16="http://schemas.microsoft.com/office/drawing/2014/main" id="{4C3F4FC5-0C01-4592-9483-D476EA2BDF93}"/>
              </a:ext>
            </a:extLst>
          </p:cNvPr>
          <p:cNvCxnSpPr>
            <a:cxnSpLocks/>
            <a:stCxn id="12" idx="0"/>
            <a:endCxn id="13" idx="2"/>
          </p:cNvCxnSpPr>
          <p:nvPr/>
        </p:nvCxnSpPr>
        <p:spPr>
          <a:xfrm flipH="1" flipV="1">
            <a:off x="6109695" y="6169114"/>
            <a:ext cx="1" cy="141128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2470199D-DDAE-4D88-9F00-88EB8E080218}"/>
              </a:ext>
            </a:extLst>
          </p:cNvPr>
          <p:cNvSpPr/>
          <p:nvPr/>
        </p:nvSpPr>
        <p:spPr>
          <a:xfrm>
            <a:off x="4646795" y="6310242"/>
            <a:ext cx="2925801" cy="297716"/>
          </a:xfrm>
          <a:prstGeom prst="rect">
            <a:avLst/>
          </a:prstGeom>
          <a:solidFill>
            <a:schemeClr val="accent1"/>
          </a:solidFill>
        </p:spPr>
        <p:txBody>
          <a:bodyPr wrap="square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1055"/>
              </a:spcBef>
            </a:pPr>
            <a:r>
              <a:rPr lang="en-US" sz="1050" b="1" dirty="0">
                <a:solidFill>
                  <a:schemeClr val="tx2"/>
                </a:solidFill>
                <a:latin typeface="+mj-lt"/>
              </a:rPr>
              <a:t>QUICK PARK ASSIST APPLICATION</a:t>
            </a:r>
          </a:p>
        </p:txBody>
      </p:sp>
    </p:spTree>
    <p:extLst>
      <p:ext uri="{BB962C8B-B14F-4D97-AF65-F5344CB8AC3E}">
        <p14:creationId xmlns:p14="http://schemas.microsoft.com/office/powerpoint/2010/main" val="22632158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E09321-AEEF-004D-5DAF-0A8A7D8EC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C03383AA-41CB-6A55-3888-6FD6DA3D2C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/>
          <a:stretch/>
        </p:blipFill>
        <p:spPr>
          <a:xfrm>
            <a:off x="0" y="1190734"/>
            <a:ext cx="12192000" cy="5667265"/>
          </a:xfrm>
          <a:prstGeom prst="rect">
            <a:avLst/>
          </a:prstGeom>
        </p:spPr>
      </p:pic>
      <p:sp>
        <p:nvSpPr>
          <p:cNvPr id="15" name="object 3" descr="Blue rectangle">
            <a:extLst>
              <a:ext uri="{FF2B5EF4-FFF2-40B4-BE49-F238E27FC236}">
                <a16:creationId xmlns:a16="http://schemas.microsoft.com/office/drawing/2014/main" id="{6BAC9B24-0BB4-5070-0C78-B0A1346A0E3A}"/>
              </a:ext>
            </a:extLst>
          </p:cNvPr>
          <p:cNvSpPr/>
          <p:nvPr/>
        </p:nvSpPr>
        <p:spPr>
          <a:xfrm>
            <a:off x="0" y="1190734"/>
            <a:ext cx="12192000" cy="5667266"/>
          </a:xfrm>
          <a:custGeom>
            <a:avLst/>
            <a:gdLst/>
            <a:ahLst/>
            <a:cxnLst/>
            <a:rect l="l" t="t" r="r" b="b"/>
            <a:pathLst>
              <a:path w="12189460" h="6858000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4D6A6D">
              <a:alpha val="69999"/>
            </a:srgbClr>
          </a:solidFill>
        </p:spPr>
        <p:txBody>
          <a:bodyPr wrap="square" lIns="0" tIns="0" rIns="0" bIns="0" rtlCol="0"/>
          <a:lstStyle/>
          <a:p>
            <a:endParaRPr lang="en-US" sz="12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A288518-3C6A-FFC0-155F-6F748D494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03716"/>
            <a:ext cx="12192000" cy="975175"/>
          </a:xfrm>
          <a:noFill/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        </a:t>
            </a:r>
            <a:r>
              <a:rPr lang="en-US" dirty="0">
                <a:solidFill>
                  <a:srgbClr val="4D6A6D"/>
                </a:solidFill>
              </a:rPr>
              <a:t>ARCHITECTURE </a:t>
            </a:r>
          </a:p>
        </p:txBody>
      </p:sp>
      <p:sp>
        <p:nvSpPr>
          <p:cNvPr id="49" name="object 6" descr="Beige rectangle">
            <a:extLst>
              <a:ext uri="{FF2B5EF4-FFF2-40B4-BE49-F238E27FC236}">
                <a16:creationId xmlns:a16="http://schemas.microsoft.com/office/drawing/2014/main" id="{AED82FD0-5546-6090-EA8C-B21380B3BF96}"/>
              </a:ext>
            </a:extLst>
          </p:cNvPr>
          <p:cNvSpPr/>
          <p:nvPr/>
        </p:nvSpPr>
        <p:spPr>
          <a:xfrm flipV="1">
            <a:off x="984675" y="826906"/>
            <a:ext cx="3379551" cy="130758"/>
          </a:xfrm>
          <a:custGeom>
            <a:avLst/>
            <a:gdLst/>
            <a:ahLst/>
            <a:cxnLst/>
            <a:rect l="l" t="t" r="r" b="b"/>
            <a:pathLst>
              <a:path w="1934210">
                <a:moveTo>
                  <a:pt x="0" y="0"/>
                </a:moveTo>
                <a:lnTo>
                  <a:pt x="1933600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lang="en-US" dirty="0"/>
          </a:p>
        </p:txBody>
      </p:sp>
      <p:sp>
        <p:nvSpPr>
          <p:cNvPr id="63" name="Oval 62" descr="Beige oval">
            <a:extLst>
              <a:ext uri="{FF2B5EF4-FFF2-40B4-BE49-F238E27FC236}">
                <a16:creationId xmlns:a16="http://schemas.microsoft.com/office/drawing/2014/main" id="{80E3D66E-99E1-B95A-239F-2FB2EC6C4978}"/>
              </a:ext>
            </a:extLst>
          </p:cNvPr>
          <p:cNvSpPr/>
          <p:nvPr/>
        </p:nvSpPr>
        <p:spPr>
          <a:xfrm>
            <a:off x="11562237" y="6227432"/>
            <a:ext cx="266400" cy="266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4" name="Slide Number Placeholder 2">
            <a:extLst>
              <a:ext uri="{FF2B5EF4-FFF2-40B4-BE49-F238E27FC236}">
                <a16:creationId xmlns:a16="http://schemas.microsoft.com/office/drawing/2014/main" id="{3A57E420-DAC2-9112-D921-E8302E3F1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699" y="6174902"/>
            <a:ext cx="357116" cy="365125"/>
          </a:xfrm>
        </p:spPr>
        <p:txBody>
          <a:bodyPr/>
          <a:lstStyle/>
          <a:p>
            <a:fld id="{82EE24B5-652C-4DB5-B7C3-B5BBEC1280B1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121" name="Rectangle 120" descr="Blue circle">
            <a:extLst>
              <a:ext uri="{FF2B5EF4-FFF2-40B4-BE49-F238E27FC236}">
                <a16:creationId xmlns:a16="http://schemas.microsoft.com/office/drawing/2014/main" id="{D5E0426B-D1F1-89CB-CB78-FE9254F5A782}"/>
              </a:ext>
            </a:extLst>
          </p:cNvPr>
          <p:cNvSpPr/>
          <p:nvPr/>
        </p:nvSpPr>
        <p:spPr>
          <a:xfrm>
            <a:off x="2646948" y="2439212"/>
            <a:ext cx="1390796" cy="657304"/>
          </a:xfrm>
          <a:prstGeom prst="rect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</a:rPr>
              <a:t>UI</a:t>
            </a:r>
            <a:br>
              <a:rPr lang="en-US" sz="2000" b="1" dirty="0">
                <a:solidFill>
                  <a:srgbClr val="FFFFFF"/>
                </a:solidFill>
              </a:rPr>
            </a:br>
            <a:r>
              <a:rPr lang="en-US" sz="1000" b="1" dirty="0">
                <a:solidFill>
                  <a:srgbClr val="FFFFFF"/>
                </a:solidFill>
              </a:rPr>
              <a:t>(</a:t>
            </a:r>
            <a:r>
              <a:rPr lang="en-US" sz="1000" b="1" dirty="0" err="1">
                <a:solidFill>
                  <a:srgbClr val="FFFFFF"/>
                </a:solidFill>
              </a:rPr>
              <a:t>Thymeleaf</a:t>
            </a:r>
            <a:r>
              <a:rPr lang="en-US" sz="1000" b="1" dirty="0">
                <a:solidFill>
                  <a:srgbClr val="FFFFFF"/>
                </a:solidFill>
              </a:rPr>
              <a:t>, HTML, CSS, JavaScript)</a:t>
            </a:r>
          </a:p>
        </p:txBody>
      </p:sp>
      <p:sp>
        <p:nvSpPr>
          <p:cNvPr id="122" name="Rectangle 121" descr="Blue circle">
            <a:extLst>
              <a:ext uri="{FF2B5EF4-FFF2-40B4-BE49-F238E27FC236}">
                <a16:creationId xmlns:a16="http://schemas.microsoft.com/office/drawing/2014/main" id="{E731DB16-6FD7-F24B-9980-E666F8C49106}"/>
              </a:ext>
            </a:extLst>
          </p:cNvPr>
          <p:cNvSpPr/>
          <p:nvPr/>
        </p:nvSpPr>
        <p:spPr>
          <a:xfrm rot="10800000" flipV="1">
            <a:off x="4727334" y="3845401"/>
            <a:ext cx="2737332" cy="793336"/>
          </a:xfrm>
          <a:prstGeom prst="rect">
            <a:avLst/>
          </a:prstGeom>
          <a:solidFill>
            <a:srgbClr val="F2E8DA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QUICK PARK ASSIST BACKEND </a:t>
            </a:r>
          </a:p>
          <a:p>
            <a:pPr algn="ctr"/>
            <a:r>
              <a:rPr lang="en-US" sz="900" b="1" dirty="0">
                <a:solidFill>
                  <a:schemeClr val="tx1"/>
                </a:solidFill>
              </a:rPr>
              <a:t>(Java, Spring Boot REST APIs and Controllers)</a:t>
            </a:r>
          </a:p>
        </p:txBody>
      </p:sp>
      <p:sp>
        <p:nvSpPr>
          <p:cNvPr id="147" name="Rectangle 146" descr="Blue circle">
            <a:extLst>
              <a:ext uri="{FF2B5EF4-FFF2-40B4-BE49-F238E27FC236}">
                <a16:creationId xmlns:a16="http://schemas.microsoft.com/office/drawing/2014/main" id="{9D93E1B1-3B55-AFB5-BC71-63F5C48660B9}"/>
              </a:ext>
            </a:extLst>
          </p:cNvPr>
          <p:cNvSpPr/>
          <p:nvPr/>
        </p:nvSpPr>
        <p:spPr>
          <a:xfrm>
            <a:off x="4987477" y="2462010"/>
            <a:ext cx="2116312" cy="65730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accent2">
                    <a:lumMod val="50000"/>
                  </a:schemeClr>
                </a:solidFill>
              </a:rPr>
              <a:t>LOGIN AUTHENTICATION</a:t>
            </a:r>
            <a:br>
              <a:rPr lang="en-US" sz="1200" b="1" dirty="0">
                <a:solidFill>
                  <a:schemeClr val="accent2">
                    <a:lumMod val="50000"/>
                  </a:schemeClr>
                </a:solidFill>
              </a:rPr>
            </a:br>
            <a:r>
              <a:rPr lang="en-US" sz="1200" b="1" dirty="0">
                <a:solidFill>
                  <a:schemeClr val="accent2">
                    <a:lumMod val="50000"/>
                  </a:schemeClr>
                </a:solidFill>
              </a:rPr>
              <a:t>(Spring Security)</a:t>
            </a:r>
          </a:p>
        </p:txBody>
      </p:sp>
      <p:sp>
        <p:nvSpPr>
          <p:cNvPr id="148" name="Rectangle 147" descr="Blue circle">
            <a:extLst>
              <a:ext uri="{FF2B5EF4-FFF2-40B4-BE49-F238E27FC236}">
                <a16:creationId xmlns:a16="http://schemas.microsoft.com/office/drawing/2014/main" id="{584FB3C5-57F6-FD39-6003-D986EA717738}"/>
              </a:ext>
            </a:extLst>
          </p:cNvPr>
          <p:cNvSpPr/>
          <p:nvPr/>
        </p:nvSpPr>
        <p:spPr>
          <a:xfrm>
            <a:off x="3774204" y="5427022"/>
            <a:ext cx="2058257" cy="79333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SWAGGER</a:t>
            </a:r>
          </a:p>
          <a:p>
            <a:pPr algn="ctr"/>
            <a:r>
              <a:rPr lang="en-US" sz="1000" b="1" dirty="0">
                <a:solidFill>
                  <a:srgbClr val="FFFFFF"/>
                </a:solidFill>
              </a:rPr>
              <a:t>(API Documentation)</a:t>
            </a:r>
          </a:p>
        </p:txBody>
      </p:sp>
      <p:sp>
        <p:nvSpPr>
          <p:cNvPr id="3" name="Rectangle 2" descr="Blue circle">
            <a:extLst>
              <a:ext uri="{FF2B5EF4-FFF2-40B4-BE49-F238E27FC236}">
                <a16:creationId xmlns:a16="http://schemas.microsoft.com/office/drawing/2014/main" id="{4F546EFB-E593-63F7-0224-ADB851877C22}"/>
              </a:ext>
            </a:extLst>
          </p:cNvPr>
          <p:cNvSpPr/>
          <p:nvPr/>
        </p:nvSpPr>
        <p:spPr>
          <a:xfrm>
            <a:off x="6159576" y="5418502"/>
            <a:ext cx="2322526" cy="79333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POSTMAN</a:t>
            </a:r>
          </a:p>
          <a:p>
            <a:pPr algn="ctr"/>
            <a:r>
              <a:rPr lang="en-US" sz="1000" b="1" dirty="0">
                <a:solidFill>
                  <a:srgbClr val="FFFFFF"/>
                </a:solidFill>
              </a:rPr>
              <a:t>(API Testing)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9B31CF5-150F-B3BD-6F78-5E2F5E9B62CE}"/>
              </a:ext>
            </a:extLst>
          </p:cNvPr>
          <p:cNvSpPr txBox="1"/>
          <p:nvPr/>
        </p:nvSpPr>
        <p:spPr>
          <a:xfrm>
            <a:off x="655603" y="2585691"/>
            <a:ext cx="10418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bg1"/>
                </a:solidFill>
              </a:rPr>
              <a:t>Request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5048D2D-5F7B-1FB1-26BC-6778B34358DD}"/>
              </a:ext>
            </a:extLst>
          </p:cNvPr>
          <p:cNvCxnSpPr>
            <a:cxnSpLocks/>
            <a:endCxn id="121" idx="1"/>
          </p:cNvCxnSpPr>
          <p:nvPr/>
        </p:nvCxnSpPr>
        <p:spPr>
          <a:xfrm>
            <a:off x="1697377" y="2767864"/>
            <a:ext cx="949571" cy="0"/>
          </a:xfrm>
          <a:prstGeom prst="straightConnector1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7AE634A-185F-8371-3FD0-2603C13DCB81}"/>
              </a:ext>
            </a:extLst>
          </p:cNvPr>
          <p:cNvCxnSpPr>
            <a:cxnSpLocks/>
          </p:cNvCxnSpPr>
          <p:nvPr/>
        </p:nvCxnSpPr>
        <p:spPr>
          <a:xfrm>
            <a:off x="4052398" y="2661275"/>
            <a:ext cx="934052" cy="0"/>
          </a:xfrm>
          <a:prstGeom prst="straightConnector1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6" descr="Blue circle">
            <a:extLst>
              <a:ext uri="{FF2B5EF4-FFF2-40B4-BE49-F238E27FC236}">
                <a16:creationId xmlns:a16="http://schemas.microsoft.com/office/drawing/2014/main" id="{E2381658-EFC7-639D-E2DB-85701E0DF256}"/>
              </a:ext>
            </a:extLst>
          </p:cNvPr>
          <p:cNvSpPr/>
          <p:nvPr/>
        </p:nvSpPr>
        <p:spPr>
          <a:xfrm>
            <a:off x="8601398" y="3250529"/>
            <a:ext cx="2087802" cy="937340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MYSQL</a:t>
            </a:r>
          </a:p>
          <a:p>
            <a:pPr algn="ctr"/>
            <a:r>
              <a:rPr lang="en-US" sz="1000" b="1" dirty="0">
                <a:solidFill>
                  <a:schemeClr val="accent2">
                    <a:lumMod val="50000"/>
                  </a:schemeClr>
                </a:solidFill>
              </a:rPr>
              <a:t>(Database)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0C4F2A03-9FF8-2C14-EAA9-15CD9C485C5A}"/>
              </a:ext>
            </a:extLst>
          </p:cNvPr>
          <p:cNvCxnSpPr>
            <a:cxnSpLocks/>
          </p:cNvCxnSpPr>
          <p:nvPr/>
        </p:nvCxnSpPr>
        <p:spPr>
          <a:xfrm>
            <a:off x="6044852" y="3119311"/>
            <a:ext cx="0" cy="755768"/>
          </a:xfrm>
          <a:prstGeom prst="straightConnector1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 descr="Blue circle">
            <a:extLst>
              <a:ext uri="{FF2B5EF4-FFF2-40B4-BE49-F238E27FC236}">
                <a16:creationId xmlns:a16="http://schemas.microsoft.com/office/drawing/2014/main" id="{AE50AF01-E7C8-FFC6-D446-E540F12219BA}"/>
              </a:ext>
            </a:extLst>
          </p:cNvPr>
          <p:cNvSpPr/>
          <p:nvPr/>
        </p:nvSpPr>
        <p:spPr>
          <a:xfrm>
            <a:off x="8600371" y="2091963"/>
            <a:ext cx="2053082" cy="829058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SPLUNK</a:t>
            </a:r>
          </a:p>
          <a:p>
            <a:pPr algn="ctr"/>
            <a:r>
              <a:rPr lang="en-US" sz="1000" b="1" dirty="0">
                <a:solidFill>
                  <a:srgbClr val="FFFFFF"/>
                </a:solidFill>
              </a:rPr>
              <a:t>(Log Monitoring)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5E3F13F0-6404-50A7-5D37-101EEC232A58}"/>
              </a:ext>
            </a:extLst>
          </p:cNvPr>
          <p:cNvCxnSpPr>
            <a:cxnSpLocks/>
          </p:cNvCxnSpPr>
          <p:nvPr/>
        </p:nvCxnSpPr>
        <p:spPr>
          <a:xfrm flipH="1">
            <a:off x="4037744" y="2902241"/>
            <a:ext cx="948706" cy="10001"/>
          </a:xfrm>
          <a:prstGeom prst="straightConnector1">
            <a:avLst/>
          </a:prstGeom>
          <a:ln w="19050">
            <a:solidFill>
              <a:srgbClr val="FF6B6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0D13E543-BA91-7259-018A-155B67F53BB0}"/>
              </a:ext>
            </a:extLst>
          </p:cNvPr>
          <p:cNvCxnSpPr>
            <a:cxnSpLocks/>
            <a:stCxn id="122" idx="1"/>
            <a:endCxn id="37" idx="1"/>
          </p:cNvCxnSpPr>
          <p:nvPr/>
        </p:nvCxnSpPr>
        <p:spPr>
          <a:xfrm flipV="1">
            <a:off x="7464666" y="3719199"/>
            <a:ext cx="1136732" cy="522870"/>
          </a:xfrm>
          <a:prstGeom prst="straightConnector1">
            <a:avLst/>
          </a:prstGeom>
          <a:ln w="19050" cap="flat" cmpd="sng" algn="ctr">
            <a:solidFill>
              <a:schemeClr val="bg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390278E7-29B5-C098-E72D-9A8B0BA68315}"/>
              </a:ext>
            </a:extLst>
          </p:cNvPr>
          <p:cNvCxnSpPr>
            <a:cxnSpLocks/>
            <a:stCxn id="148" idx="0"/>
          </p:cNvCxnSpPr>
          <p:nvPr/>
        </p:nvCxnSpPr>
        <p:spPr>
          <a:xfrm flipV="1">
            <a:off x="4803333" y="4630086"/>
            <a:ext cx="1151232" cy="796936"/>
          </a:xfrm>
          <a:prstGeom prst="line">
            <a:avLst/>
          </a:prstGeom>
          <a:ln w="19050">
            <a:solidFill>
              <a:schemeClr val="bg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96B9BB62-E8D0-3310-CBF4-504EFB8F4F4B}"/>
              </a:ext>
            </a:extLst>
          </p:cNvPr>
          <p:cNvCxnSpPr>
            <a:cxnSpLocks/>
            <a:stCxn id="3" idx="0"/>
          </p:cNvCxnSpPr>
          <p:nvPr/>
        </p:nvCxnSpPr>
        <p:spPr>
          <a:xfrm flipH="1" flipV="1">
            <a:off x="6421120" y="4637704"/>
            <a:ext cx="899719" cy="780798"/>
          </a:xfrm>
          <a:prstGeom prst="line">
            <a:avLst/>
          </a:prstGeom>
          <a:ln w="19050">
            <a:solidFill>
              <a:schemeClr val="bg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Rectangle 74">
            <a:extLst>
              <a:ext uri="{FF2B5EF4-FFF2-40B4-BE49-F238E27FC236}">
                <a16:creationId xmlns:a16="http://schemas.microsoft.com/office/drawing/2014/main" id="{DD046AFA-2FDF-C0E2-72CA-5C5969BE5BA4}"/>
              </a:ext>
            </a:extLst>
          </p:cNvPr>
          <p:cNvSpPr/>
          <p:nvPr/>
        </p:nvSpPr>
        <p:spPr>
          <a:xfrm>
            <a:off x="205483" y="1376737"/>
            <a:ext cx="11277216" cy="5277547"/>
          </a:xfrm>
          <a:prstGeom prst="rect">
            <a:avLst/>
          </a:prstGeom>
          <a:noFill/>
          <a:ln w="381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88F3A117-7DDD-948D-D74A-11DD54AD477C}"/>
              </a:ext>
            </a:extLst>
          </p:cNvPr>
          <p:cNvSpPr/>
          <p:nvPr/>
        </p:nvSpPr>
        <p:spPr>
          <a:xfrm>
            <a:off x="441789" y="1933456"/>
            <a:ext cx="3922437" cy="1396955"/>
          </a:xfrm>
          <a:prstGeom prst="rect">
            <a:avLst/>
          </a:prstGeom>
          <a:noFill/>
          <a:ln w="12700">
            <a:solidFill>
              <a:srgbClr val="FFFFFF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6C6B7E5A-8A25-651E-568E-2059B226AD31}"/>
              </a:ext>
            </a:extLst>
          </p:cNvPr>
          <p:cNvSpPr txBox="1"/>
          <p:nvPr/>
        </p:nvSpPr>
        <p:spPr>
          <a:xfrm>
            <a:off x="441789" y="1961158"/>
            <a:ext cx="186595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b="1" dirty="0">
                <a:solidFill>
                  <a:schemeClr val="bg1"/>
                </a:solidFill>
              </a:rPr>
              <a:t>Presentation Layer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BB0B8E97-A704-0BFB-9BD2-3CB90B004B81}"/>
              </a:ext>
            </a:extLst>
          </p:cNvPr>
          <p:cNvSpPr/>
          <p:nvPr/>
        </p:nvSpPr>
        <p:spPr>
          <a:xfrm>
            <a:off x="4583183" y="1900824"/>
            <a:ext cx="2980818" cy="3121444"/>
          </a:xfrm>
          <a:prstGeom prst="rect">
            <a:avLst/>
          </a:prstGeom>
          <a:noFill/>
          <a:ln w="12700">
            <a:solidFill>
              <a:srgbClr val="FFFFFF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77C5DE6E-D4EF-F70F-FE6B-3F3318D88193}"/>
              </a:ext>
            </a:extLst>
          </p:cNvPr>
          <p:cNvSpPr txBox="1"/>
          <p:nvPr/>
        </p:nvSpPr>
        <p:spPr>
          <a:xfrm>
            <a:off x="4616692" y="1951270"/>
            <a:ext cx="186595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b="1" dirty="0">
                <a:solidFill>
                  <a:schemeClr val="bg1"/>
                </a:solidFill>
              </a:rPr>
              <a:t>Backend Layer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24079361-08AD-12B0-E5FF-D874B5C6016C}"/>
              </a:ext>
            </a:extLst>
          </p:cNvPr>
          <p:cNvSpPr/>
          <p:nvPr/>
        </p:nvSpPr>
        <p:spPr>
          <a:xfrm>
            <a:off x="441789" y="5150406"/>
            <a:ext cx="10777592" cy="1341050"/>
          </a:xfrm>
          <a:prstGeom prst="rect">
            <a:avLst/>
          </a:prstGeom>
          <a:noFill/>
          <a:ln w="12700">
            <a:solidFill>
              <a:srgbClr val="FFFFFF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C2B7F8C4-299F-40D3-507F-A7423AE16AF0}"/>
              </a:ext>
            </a:extLst>
          </p:cNvPr>
          <p:cNvSpPr txBox="1"/>
          <p:nvPr/>
        </p:nvSpPr>
        <p:spPr>
          <a:xfrm>
            <a:off x="8790257" y="4364290"/>
            <a:ext cx="232252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b="1" dirty="0">
                <a:solidFill>
                  <a:schemeClr val="bg1"/>
                </a:solidFill>
              </a:rPr>
              <a:t>Data Layer </a:t>
            </a:r>
            <a:r>
              <a:rPr lang="en-IN" sz="700" b="1" dirty="0">
                <a:solidFill>
                  <a:schemeClr val="bg1"/>
                </a:solidFill>
              </a:rPr>
              <a:t>(Storage &amp; Logging)</a:t>
            </a:r>
            <a:endParaRPr lang="en-IN" sz="1050" b="1" dirty="0">
              <a:solidFill>
                <a:schemeClr val="bg1"/>
              </a:solidFill>
            </a:endParaRPr>
          </a:p>
        </p:txBody>
      </p:sp>
      <p:sp>
        <p:nvSpPr>
          <p:cNvPr id="109" name="Rectangle 108" descr="Blue circle">
            <a:extLst>
              <a:ext uri="{FF2B5EF4-FFF2-40B4-BE49-F238E27FC236}">
                <a16:creationId xmlns:a16="http://schemas.microsoft.com/office/drawing/2014/main" id="{4131E43B-AC5C-9CA6-CDC9-4523122D4270}"/>
              </a:ext>
            </a:extLst>
          </p:cNvPr>
          <p:cNvSpPr/>
          <p:nvPr/>
        </p:nvSpPr>
        <p:spPr>
          <a:xfrm>
            <a:off x="8882665" y="5417386"/>
            <a:ext cx="2058257" cy="813528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SONARQUBE</a:t>
            </a:r>
          </a:p>
          <a:p>
            <a:pPr algn="ctr"/>
            <a:r>
              <a:rPr lang="en-US" sz="1000" b="1" dirty="0">
                <a:solidFill>
                  <a:srgbClr val="FFFFFF"/>
                </a:solidFill>
              </a:rPr>
              <a:t>(Code Analysis)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6C81E97F-6DA1-931A-CDDB-7CF524BF47C7}"/>
              </a:ext>
            </a:extLst>
          </p:cNvPr>
          <p:cNvSpPr/>
          <p:nvPr/>
        </p:nvSpPr>
        <p:spPr>
          <a:xfrm>
            <a:off x="7917285" y="1880992"/>
            <a:ext cx="3302095" cy="2736068"/>
          </a:xfrm>
          <a:prstGeom prst="rect">
            <a:avLst/>
          </a:prstGeom>
          <a:noFill/>
          <a:ln w="12700">
            <a:solidFill>
              <a:srgbClr val="FFFFFF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F24CFEE4-5D38-0697-5F69-C395BC924E04}"/>
              </a:ext>
            </a:extLst>
          </p:cNvPr>
          <p:cNvSpPr txBox="1"/>
          <p:nvPr/>
        </p:nvSpPr>
        <p:spPr>
          <a:xfrm>
            <a:off x="4934736" y="6244298"/>
            <a:ext cx="232252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b="1" dirty="0">
                <a:solidFill>
                  <a:schemeClr val="bg1"/>
                </a:solidFill>
              </a:rPr>
              <a:t>Testing &amp; Code Quality Layer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25719C6C-0DE8-C434-F256-E741B12C89EB}"/>
              </a:ext>
            </a:extLst>
          </p:cNvPr>
          <p:cNvSpPr txBox="1"/>
          <p:nvPr/>
        </p:nvSpPr>
        <p:spPr>
          <a:xfrm>
            <a:off x="4569216" y="2935300"/>
            <a:ext cx="6440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>
                <a:solidFill>
                  <a:srgbClr val="FF6B6B"/>
                </a:solidFill>
              </a:rPr>
              <a:t>Auth Failure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4F91FD3E-869D-C512-8BB2-980A43A18E21}"/>
              </a:ext>
            </a:extLst>
          </p:cNvPr>
          <p:cNvSpPr txBox="1"/>
          <p:nvPr/>
        </p:nvSpPr>
        <p:spPr>
          <a:xfrm>
            <a:off x="309378" y="1485843"/>
            <a:ext cx="186595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b="1" dirty="0">
                <a:solidFill>
                  <a:schemeClr val="bg1"/>
                </a:solidFill>
              </a:rPr>
              <a:t>QUICK PARK ASSIST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71D63576-72D0-E6F5-874D-5C9D9DFBCED2}"/>
              </a:ext>
            </a:extLst>
          </p:cNvPr>
          <p:cNvCxnSpPr>
            <a:cxnSpLocks/>
            <a:endCxn id="43" idx="1"/>
          </p:cNvCxnSpPr>
          <p:nvPr/>
        </p:nvCxnSpPr>
        <p:spPr>
          <a:xfrm flipV="1">
            <a:off x="7464666" y="2506492"/>
            <a:ext cx="1135705" cy="1540575"/>
          </a:xfrm>
          <a:prstGeom prst="line">
            <a:avLst/>
          </a:prstGeom>
          <a:ln w="19050">
            <a:solidFill>
              <a:schemeClr val="bg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 descr="Blue circle">
            <a:extLst>
              <a:ext uri="{FF2B5EF4-FFF2-40B4-BE49-F238E27FC236}">
                <a16:creationId xmlns:a16="http://schemas.microsoft.com/office/drawing/2014/main" id="{F9C767A9-57F2-FAE6-87F3-8CA254001483}"/>
              </a:ext>
            </a:extLst>
          </p:cNvPr>
          <p:cNvSpPr/>
          <p:nvPr/>
        </p:nvSpPr>
        <p:spPr>
          <a:xfrm>
            <a:off x="577104" y="5439475"/>
            <a:ext cx="2923371" cy="77236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Prometheus            Grafana  </a:t>
            </a:r>
          </a:p>
          <a:p>
            <a:r>
              <a:rPr lang="en-US" sz="1600" b="1" dirty="0">
                <a:solidFill>
                  <a:srgbClr val="FFFFFF"/>
                </a:solidFill>
              </a:rPr>
              <a:t>    </a:t>
            </a:r>
            <a:r>
              <a:rPr lang="en-US" sz="900" b="1" dirty="0">
                <a:solidFill>
                  <a:srgbClr val="FFFFFF"/>
                </a:solidFill>
              </a:rPr>
              <a:t>(Collecting metrics)            </a:t>
            </a:r>
            <a:r>
              <a:rPr lang="en-US" sz="800" b="1" dirty="0">
                <a:solidFill>
                  <a:srgbClr val="FFFFFF"/>
                </a:solidFill>
              </a:rPr>
              <a:t>(Visualizing metrics)     </a:t>
            </a:r>
            <a:endParaRPr lang="en-US" sz="1000" b="1" dirty="0">
              <a:solidFill>
                <a:srgbClr val="FFFFFF"/>
              </a:solidFill>
            </a:endParaRPr>
          </a:p>
        </p:txBody>
      </p:sp>
      <p:pic>
        <p:nvPicPr>
          <p:cNvPr id="42" name="Graphic 41" descr="Add">
            <a:extLst>
              <a:ext uri="{FF2B5EF4-FFF2-40B4-BE49-F238E27FC236}">
                <a16:creationId xmlns:a16="http://schemas.microsoft.com/office/drawing/2014/main" id="{B5DA05DB-74C0-CDFE-3AAA-3DB5309B9AC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090713" y="5646321"/>
            <a:ext cx="169235" cy="169235"/>
          </a:xfrm>
          <a:prstGeom prst="rect">
            <a:avLst/>
          </a:prstGeom>
        </p:spPr>
      </p:pic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5E5A1353-2C81-0834-E7A2-86C8EB5F494E}"/>
              </a:ext>
            </a:extLst>
          </p:cNvPr>
          <p:cNvCxnSpPr>
            <a:cxnSpLocks/>
            <a:stCxn id="36" idx="0"/>
          </p:cNvCxnSpPr>
          <p:nvPr/>
        </p:nvCxnSpPr>
        <p:spPr>
          <a:xfrm flipV="1">
            <a:off x="2038790" y="4630377"/>
            <a:ext cx="3221067" cy="809098"/>
          </a:xfrm>
          <a:prstGeom prst="line">
            <a:avLst/>
          </a:prstGeom>
          <a:ln w="19050">
            <a:solidFill>
              <a:schemeClr val="bg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D796024-81E4-ECD1-F7CB-6C40D3793829}"/>
              </a:ext>
            </a:extLst>
          </p:cNvPr>
          <p:cNvCxnSpPr>
            <a:cxnSpLocks/>
            <a:stCxn id="122" idx="3"/>
            <a:endCxn id="121" idx="2"/>
          </p:cNvCxnSpPr>
          <p:nvPr/>
        </p:nvCxnSpPr>
        <p:spPr>
          <a:xfrm rot="10800000">
            <a:off x="3342346" y="3096517"/>
            <a:ext cx="1384988" cy="1145553"/>
          </a:xfrm>
          <a:prstGeom prst="bentConnector2">
            <a:avLst/>
          </a:prstGeom>
          <a:ln w="19050" cap="flat" cmpd="sng" algn="ctr">
            <a:solidFill>
              <a:schemeClr val="bg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65798E6A-BDCB-9EDD-2200-BB1E49D6297B}"/>
              </a:ext>
            </a:extLst>
          </p:cNvPr>
          <p:cNvSpPr txBox="1"/>
          <p:nvPr/>
        </p:nvSpPr>
        <p:spPr>
          <a:xfrm>
            <a:off x="3541501" y="4255124"/>
            <a:ext cx="109088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>
                <a:solidFill>
                  <a:schemeClr val="bg1"/>
                </a:solidFill>
              </a:rPr>
              <a:t>API Request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FA39C9-F86C-88AF-D16F-21CC262D11B4}"/>
              </a:ext>
            </a:extLst>
          </p:cNvPr>
          <p:cNvSpPr txBox="1"/>
          <p:nvPr/>
        </p:nvSpPr>
        <p:spPr>
          <a:xfrm>
            <a:off x="3389552" y="3391821"/>
            <a:ext cx="109088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>
                <a:solidFill>
                  <a:schemeClr val="bg1"/>
                </a:solidFill>
              </a:rPr>
              <a:t>API Response</a:t>
            </a:r>
          </a:p>
        </p:txBody>
      </p:sp>
    </p:spTree>
    <p:extLst>
      <p:ext uri="{BB962C8B-B14F-4D97-AF65-F5344CB8AC3E}">
        <p14:creationId xmlns:p14="http://schemas.microsoft.com/office/powerpoint/2010/main" val="16497627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81CB4715-DB19-DEB3-1A5A-284E776376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/>
          <a:stretch/>
        </p:blipFill>
        <p:spPr>
          <a:xfrm flipH="1">
            <a:off x="933385" y="-1"/>
            <a:ext cx="11257026" cy="6857999"/>
          </a:xfrm>
          <a:prstGeom prst="rect">
            <a:avLst/>
          </a:prstGeom>
        </p:spPr>
      </p:pic>
      <p:sp>
        <p:nvSpPr>
          <p:cNvPr id="16" name="object 3" descr="Beige rectangle">
            <a:extLst>
              <a:ext uri="{FF2B5EF4-FFF2-40B4-BE49-F238E27FC236}">
                <a16:creationId xmlns:a16="http://schemas.microsoft.com/office/drawing/2014/main" id="{C6CF32E2-A869-4259-A659-5EEE6BDA3B59}"/>
              </a:ext>
            </a:extLst>
          </p:cNvPr>
          <p:cNvSpPr/>
          <p:nvPr/>
        </p:nvSpPr>
        <p:spPr>
          <a:xfrm>
            <a:off x="579775" y="472492"/>
            <a:ext cx="4051368" cy="5913017"/>
          </a:xfrm>
          <a:custGeom>
            <a:avLst/>
            <a:gdLst/>
            <a:ahLst/>
            <a:cxnLst/>
            <a:rect l="l" t="t" r="r" b="b"/>
            <a:pathLst>
              <a:path w="4010659" h="333375">
                <a:moveTo>
                  <a:pt x="0" y="333006"/>
                </a:moveTo>
                <a:lnTo>
                  <a:pt x="4010367" y="333006"/>
                </a:lnTo>
                <a:lnTo>
                  <a:pt x="4010367" y="0"/>
                </a:lnTo>
                <a:lnTo>
                  <a:pt x="0" y="0"/>
                </a:lnTo>
                <a:lnTo>
                  <a:pt x="0" y="333006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 lang="en-US" dirty="0"/>
          </a:p>
        </p:txBody>
      </p:sp>
      <p:sp>
        <p:nvSpPr>
          <p:cNvPr id="14" name="Oval 13" descr="Beige oval">
            <a:extLst>
              <a:ext uri="{FF2B5EF4-FFF2-40B4-BE49-F238E27FC236}">
                <a16:creationId xmlns:a16="http://schemas.microsoft.com/office/drawing/2014/main" id="{B8809DE3-0F1D-442A-8935-B40AD580864B}"/>
              </a:ext>
            </a:extLst>
          </p:cNvPr>
          <p:cNvSpPr/>
          <p:nvPr/>
        </p:nvSpPr>
        <p:spPr>
          <a:xfrm>
            <a:off x="11562237" y="6227432"/>
            <a:ext cx="266400" cy="266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object 6" descr="Blue rectangle">
            <a:extLst>
              <a:ext uri="{FF2B5EF4-FFF2-40B4-BE49-F238E27FC236}">
                <a16:creationId xmlns:a16="http://schemas.microsoft.com/office/drawing/2014/main" id="{882E2F92-EB16-4B55-B49A-3C6AB7B2BF30}"/>
              </a:ext>
            </a:extLst>
          </p:cNvPr>
          <p:cNvSpPr/>
          <p:nvPr/>
        </p:nvSpPr>
        <p:spPr>
          <a:xfrm>
            <a:off x="911225" y="836613"/>
            <a:ext cx="5184775" cy="5184775"/>
          </a:xfrm>
          <a:custGeom>
            <a:avLst/>
            <a:gdLst/>
            <a:ahLst/>
            <a:cxnLst/>
            <a:rect l="l" t="t" r="r" b="b"/>
            <a:pathLst>
              <a:path w="6689725" h="3528060">
                <a:moveTo>
                  <a:pt x="0" y="3527996"/>
                </a:moveTo>
                <a:lnTo>
                  <a:pt x="6689648" y="3527996"/>
                </a:lnTo>
                <a:lnTo>
                  <a:pt x="6689648" y="0"/>
                </a:lnTo>
                <a:lnTo>
                  <a:pt x="0" y="0"/>
                </a:lnTo>
                <a:lnTo>
                  <a:pt x="0" y="3527996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lIns="0" tIns="0" rIns="0" bIns="0" rtlCol="0"/>
          <a:lstStyle/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02303BC-9A39-470F-8733-A268BC16B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9723" y="1900048"/>
            <a:ext cx="4770591" cy="646604"/>
          </a:xfrm>
        </p:spPr>
        <p:txBody>
          <a:bodyPr>
            <a:normAutofit/>
          </a:bodyPr>
          <a:lstStyle/>
          <a:p>
            <a:r>
              <a:rPr lang="en-US" sz="3000" dirty="0">
                <a:solidFill>
                  <a:schemeClr val="bg1"/>
                </a:solidFill>
              </a:rPr>
              <a:t>MODULES OVERVIEW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C936ED-4D5A-4897-BFCD-65082B328E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924266" y="2592407"/>
            <a:ext cx="4503184" cy="3246565"/>
          </a:xfrm>
        </p:spPr>
        <p:txBody>
          <a:bodyPr>
            <a:normAutofit/>
          </a:bodyPr>
          <a:lstStyle/>
          <a:p>
            <a:pPr>
              <a:lnSpc>
                <a:spcPct val="170000"/>
              </a:lnSpc>
            </a:pPr>
            <a:r>
              <a:rPr lang="en-US" b="1" dirty="0"/>
              <a:t>User Registration</a:t>
            </a:r>
          </a:p>
          <a:p>
            <a:pPr>
              <a:lnSpc>
                <a:spcPct val="170000"/>
              </a:lnSpc>
            </a:pPr>
            <a:r>
              <a:rPr lang="en-US" b="1" dirty="0"/>
              <a:t>Parking Spot Management</a:t>
            </a:r>
          </a:p>
          <a:p>
            <a:pPr>
              <a:lnSpc>
                <a:spcPct val="170000"/>
              </a:lnSpc>
            </a:pPr>
            <a:r>
              <a:rPr lang="en-US" b="1" dirty="0"/>
              <a:t>Parking Spot Booking</a:t>
            </a:r>
          </a:p>
          <a:p>
            <a:pPr>
              <a:lnSpc>
                <a:spcPct val="170000"/>
              </a:lnSpc>
            </a:pPr>
            <a:r>
              <a:rPr lang="en-US" b="1" dirty="0"/>
              <a:t>Addon Services</a:t>
            </a:r>
          </a:p>
          <a:p>
            <a:pPr>
              <a:lnSpc>
                <a:spcPct val="170000"/>
              </a:lnSpc>
            </a:pPr>
            <a:r>
              <a:rPr lang="en-US" b="1" dirty="0"/>
              <a:t>EV Charge Reservation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C2D5CA-E2DA-4224-B2BC-C872D2EF6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28" name="Picture Placeholder 27" descr="Check icon">
            <a:extLst>
              <a:ext uri="{FF2B5EF4-FFF2-40B4-BE49-F238E27FC236}">
                <a16:creationId xmlns:a16="http://schemas.microsoft.com/office/drawing/2014/main" id="{3CDD98F8-113E-4FB2-A33D-039AFCD9C225}"/>
              </a:ext>
            </a:extLst>
          </p:cNvPr>
          <p:cNvPicPr>
            <a:picLocks noGrp="1" noChangeAspect="1"/>
          </p:cNvPicPr>
          <p:nvPr>
            <p:ph type="pic" sz="quarter" idx="19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58281" y="2668503"/>
            <a:ext cx="598933" cy="598933"/>
          </a:xfrm>
        </p:spPr>
      </p:pic>
      <p:sp>
        <p:nvSpPr>
          <p:cNvPr id="15" name="object 27" descr="Beige rectangle">
            <a:extLst>
              <a:ext uri="{FF2B5EF4-FFF2-40B4-BE49-F238E27FC236}">
                <a16:creationId xmlns:a16="http://schemas.microsoft.com/office/drawing/2014/main" id="{C5B67D68-F2A3-48A2-B2A0-C9DF8BA55D80}"/>
              </a:ext>
            </a:extLst>
          </p:cNvPr>
          <p:cNvSpPr/>
          <p:nvPr/>
        </p:nvSpPr>
        <p:spPr>
          <a:xfrm flipV="1">
            <a:off x="1473385" y="2395266"/>
            <a:ext cx="4032000" cy="75489"/>
          </a:xfrm>
          <a:custGeom>
            <a:avLst/>
            <a:gdLst/>
            <a:ahLst/>
            <a:cxnLst/>
            <a:rect l="l" t="t" r="r" b="b"/>
            <a:pathLst>
              <a:path w="2501265">
                <a:moveTo>
                  <a:pt x="0" y="0"/>
                </a:moveTo>
                <a:lnTo>
                  <a:pt x="2500883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lang="en-US" dirty="0"/>
          </a:p>
        </p:txBody>
      </p:sp>
      <p:pic>
        <p:nvPicPr>
          <p:cNvPr id="19" name="Picture Placeholder 27" descr="Check icon">
            <a:extLst>
              <a:ext uri="{FF2B5EF4-FFF2-40B4-BE49-F238E27FC236}">
                <a16:creationId xmlns:a16="http://schemas.microsoft.com/office/drawing/2014/main" id="{A9F99BE9-C414-5F65-B63F-E449CFAC5A0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58281" y="3292055"/>
            <a:ext cx="598933" cy="598933"/>
          </a:xfrm>
          <a:prstGeom prst="rect">
            <a:avLst/>
          </a:prstGeom>
        </p:spPr>
      </p:pic>
      <p:pic>
        <p:nvPicPr>
          <p:cNvPr id="21" name="Picture Placeholder 27" descr="Check icon">
            <a:extLst>
              <a:ext uri="{FF2B5EF4-FFF2-40B4-BE49-F238E27FC236}">
                <a16:creationId xmlns:a16="http://schemas.microsoft.com/office/drawing/2014/main" id="{16DDD595-BA5E-9194-9A6E-21D02B818DD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61873" y="3916222"/>
            <a:ext cx="598933" cy="598933"/>
          </a:xfrm>
          <a:prstGeom prst="rect">
            <a:avLst/>
          </a:prstGeom>
        </p:spPr>
      </p:pic>
      <p:pic>
        <p:nvPicPr>
          <p:cNvPr id="23" name="Picture Placeholder 27" descr="Check icon">
            <a:extLst>
              <a:ext uri="{FF2B5EF4-FFF2-40B4-BE49-F238E27FC236}">
                <a16:creationId xmlns:a16="http://schemas.microsoft.com/office/drawing/2014/main" id="{8927D193-2D3A-C6D4-B866-58952215409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58281" y="4575670"/>
            <a:ext cx="598933" cy="598933"/>
          </a:xfrm>
          <a:prstGeom prst="rect">
            <a:avLst/>
          </a:prstGeom>
        </p:spPr>
      </p:pic>
      <p:pic>
        <p:nvPicPr>
          <p:cNvPr id="24" name="Picture Placeholder 27" descr="Check icon">
            <a:extLst>
              <a:ext uri="{FF2B5EF4-FFF2-40B4-BE49-F238E27FC236}">
                <a16:creationId xmlns:a16="http://schemas.microsoft.com/office/drawing/2014/main" id="{FC995152-EA48-7965-E3E9-5FC03D37A67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58281" y="5240037"/>
            <a:ext cx="598933" cy="598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40399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Placeholder 15">
            <a:extLst>
              <a:ext uri="{FF2B5EF4-FFF2-40B4-BE49-F238E27FC236}">
                <a16:creationId xmlns:a16="http://schemas.microsoft.com/office/drawing/2014/main" id="{34747A47-EC6F-69D9-FAB7-B5EC248F883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/>
          <a:stretch>
            <a:fillRect/>
          </a:stretch>
        </p:blipFill>
        <p:spPr>
          <a:xfrm>
            <a:off x="0" y="2643855"/>
            <a:ext cx="12192000" cy="4214145"/>
          </a:xfrm>
        </p:spPr>
      </p:pic>
      <p:sp>
        <p:nvSpPr>
          <p:cNvPr id="12" name="object 3" descr="Blue rectangle">
            <a:extLst>
              <a:ext uri="{FF2B5EF4-FFF2-40B4-BE49-F238E27FC236}">
                <a16:creationId xmlns:a16="http://schemas.microsoft.com/office/drawing/2014/main" id="{CDEEA71D-C3B3-45BB-A776-D17D92A58127}"/>
              </a:ext>
            </a:extLst>
          </p:cNvPr>
          <p:cNvSpPr/>
          <p:nvPr/>
        </p:nvSpPr>
        <p:spPr>
          <a:xfrm>
            <a:off x="0" y="2639037"/>
            <a:ext cx="12192000" cy="4218963"/>
          </a:xfrm>
          <a:custGeom>
            <a:avLst/>
            <a:gdLst/>
            <a:ahLst/>
            <a:cxnLst/>
            <a:rect l="l" t="t" r="r" b="b"/>
            <a:pathLst>
              <a:path w="12189460" h="6858000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80000"/>
            </a:schemeClr>
          </a:solidFill>
        </p:spPr>
        <p:txBody>
          <a:bodyPr wrap="square" lIns="0" tIns="0" rIns="0" bIns="0" rtlCol="0"/>
          <a:lstStyle/>
          <a:p>
            <a:endParaRPr lang="en-US" dirty="0"/>
          </a:p>
        </p:txBody>
      </p:sp>
      <p:sp>
        <p:nvSpPr>
          <p:cNvPr id="13" name="Oval 12" descr="Beige oval">
            <a:extLst>
              <a:ext uri="{FF2B5EF4-FFF2-40B4-BE49-F238E27FC236}">
                <a16:creationId xmlns:a16="http://schemas.microsoft.com/office/drawing/2014/main" id="{F336552F-CA64-452F-9BD8-01334388BFF5}"/>
              </a:ext>
            </a:extLst>
          </p:cNvPr>
          <p:cNvSpPr/>
          <p:nvPr/>
        </p:nvSpPr>
        <p:spPr>
          <a:xfrm>
            <a:off x="11562237" y="6227432"/>
            <a:ext cx="266400" cy="266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9ADB42F-AE48-4323-897F-DB5A083BD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064" y="361648"/>
            <a:ext cx="10515600" cy="1325563"/>
          </a:xfrm>
        </p:spPr>
        <p:txBody>
          <a:bodyPr/>
          <a:lstStyle/>
          <a:p>
            <a:r>
              <a:rPr lang="en-US" dirty="0"/>
              <a:t>User Registration Module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3C1E99-672F-46AE-BB08-DD22B09283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0049" y="1720797"/>
            <a:ext cx="3789362" cy="823912"/>
          </a:xfrm>
        </p:spPr>
        <p:txBody>
          <a:bodyPr>
            <a:normAutofit/>
          </a:bodyPr>
          <a:lstStyle/>
          <a:p>
            <a:r>
              <a:rPr lang="en-US" sz="2000" dirty="0"/>
              <a:t>Features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DEAD4F2-C5CC-44E9-A092-76413D5CA7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0107" y="3185431"/>
            <a:ext cx="2959851" cy="516042"/>
          </a:xfrm>
        </p:spPr>
        <p:txBody>
          <a:bodyPr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None/>
            </a:pPr>
            <a:r>
              <a:rPr lang="en-US" b="1" i="1" dirty="0">
                <a:solidFill>
                  <a:srgbClr val="FFFFFF"/>
                </a:solidFill>
                <a:cs typeface="Arial"/>
              </a:rPr>
              <a:t>Signup &amp; Login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8A73375-FA03-4191-8AD5-B40CD9B59B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680109" y="1715979"/>
            <a:ext cx="4745038" cy="823912"/>
          </a:xfrm>
        </p:spPr>
        <p:txBody>
          <a:bodyPr>
            <a:normAutofit/>
          </a:bodyPr>
          <a:lstStyle/>
          <a:p>
            <a:r>
              <a:rPr lang="en-US" sz="2000" dirty="0"/>
              <a:t>	Description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E0C6FDF-5982-4E37-B65D-F7B05D0FFB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2367980" y="3214674"/>
            <a:ext cx="10408398" cy="322730"/>
          </a:xfrm>
        </p:spPr>
        <p:txBody>
          <a:bodyPr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None/>
            </a:pPr>
            <a:r>
              <a:rPr lang="en-US" sz="1200" i="1" dirty="0">
                <a:solidFill>
                  <a:srgbClr val="FFFFFF"/>
                </a:solidFill>
                <a:cs typeface="Arial"/>
              </a:rPr>
              <a:t>Register with name, email (OTP), phone, user type, password, and address. Login via email &amp; password.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8F7FB6B-EAC9-40F7-9522-61A8D53EF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9" name="object 5" descr="Beige rectangle">
            <a:extLst>
              <a:ext uri="{FF2B5EF4-FFF2-40B4-BE49-F238E27FC236}">
                <a16:creationId xmlns:a16="http://schemas.microsoft.com/office/drawing/2014/main" id="{890F7762-BD37-4D33-9F80-1DA07B5E172E}"/>
              </a:ext>
            </a:extLst>
          </p:cNvPr>
          <p:cNvSpPr/>
          <p:nvPr/>
        </p:nvSpPr>
        <p:spPr>
          <a:xfrm>
            <a:off x="915637" y="1337103"/>
            <a:ext cx="3744000" cy="0"/>
          </a:xfrm>
          <a:custGeom>
            <a:avLst/>
            <a:gdLst/>
            <a:ahLst/>
            <a:cxnLst/>
            <a:rect l="l" t="t" r="r" b="b"/>
            <a:pathLst>
              <a:path w="3931920">
                <a:moveTo>
                  <a:pt x="0" y="0"/>
                </a:moveTo>
                <a:lnTo>
                  <a:pt x="3931920" y="0"/>
                </a:lnTo>
              </a:path>
            </a:pathLst>
          </a:custGeom>
          <a:ln w="54864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02806D2-2390-0EC7-6921-89038BF2D97C}"/>
              </a:ext>
            </a:extLst>
          </p:cNvPr>
          <p:cNvSpPr txBox="1"/>
          <p:nvPr/>
        </p:nvSpPr>
        <p:spPr>
          <a:xfrm>
            <a:off x="915637" y="1447803"/>
            <a:ext cx="110828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496776"/>
                </a:solidFill>
              </a:rPr>
              <a:t>Enables secure user onboarding with </a:t>
            </a:r>
            <a:r>
              <a:rPr lang="en-US" sz="1600" b="1" dirty="0">
                <a:solidFill>
                  <a:srgbClr val="496776"/>
                </a:solidFill>
              </a:rPr>
              <a:t>role-based access, profile management, and enhanced security features.</a:t>
            </a:r>
            <a:endParaRPr lang="en-IN" sz="1600" dirty="0">
              <a:solidFill>
                <a:srgbClr val="496776"/>
              </a:solidFill>
            </a:endParaRP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F16E8060-02D9-D71F-101D-C8C28CB2E711}"/>
              </a:ext>
            </a:extLst>
          </p:cNvPr>
          <p:cNvSpPr txBox="1">
            <a:spLocks/>
          </p:cNvSpPr>
          <p:nvPr/>
        </p:nvSpPr>
        <p:spPr>
          <a:xfrm>
            <a:off x="40331" y="3779453"/>
            <a:ext cx="3139404" cy="5160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None/>
            </a:pPr>
            <a:r>
              <a:rPr lang="en-US" b="1" i="1" dirty="0">
                <a:solidFill>
                  <a:srgbClr val="FFFFFF"/>
                </a:solidFill>
                <a:cs typeface="Arial"/>
              </a:rPr>
              <a:t>RBAC</a:t>
            </a:r>
          </a:p>
        </p:txBody>
      </p:sp>
      <p:sp>
        <p:nvSpPr>
          <p:cNvPr id="20" name="Content Placeholder 4">
            <a:extLst>
              <a:ext uri="{FF2B5EF4-FFF2-40B4-BE49-F238E27FC236}">
                <a16:creationId xmlns:a16="http://schemas.microsoft.com/office/drawing/2014/main" id="{D4C921C4-A129-F3F1-77C3-FBB1EFEAD676}"/>
              </a:ext>
            </a:extLst>
          </p:cNvPr>
          <p:cNvSpPr txBox="1">
            <a:spLocks/>
          </p:cNvSpPr>
          <p:nvPr/>
        </p:nvSpPr>
        <p:spPr>
          <a:xfrm>
            <a:off x="250334" y="4417339"/>
            <a:ext cx="2959851" cy="4742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None/>
            </a:pPr>
            <a:r>
              <a:rPr lang="en-US" b="1" i="1" dirty="0">
                <a:solidFill>
                  <a:srgbClr val="FFFFFF"/>
                </a:solidFill>
                <a:cs typeface="Arial"/>
              </a:rPr>
              <a:t>Profile &amp; Password Management</a:t>
            </a:r>
          </a:p>
        </p:txBody>
      </p:sp>
      <p:sp>
        <p:nvSpPr>
          <p:cNvPr id="21" name="Content Placeholder 4">
            <a:extLst>
              <a:ext uri="{FF2B5EF4-FFF2-40B4-BE49-F238E27FC236}">
                <a16:creationId xmlns:a16="http://schemas.microsoft.com/office/drawing/2014/main" id="{76190DBC-4C73-5BCC-60CF-171807B52FF3}"/>
              </a:ext>
            </a:extLst>
          </p:cNvPr>
          <p:cNvSpPr txBox="1">
            <a:spLocks/>
          </p:cNvSpPr>
          <p:nvPr/>
        </p:nvSpPr>
        <p:spPr>
          <a:xfrm>
            <a:off x="372972" y="5227629"/>
            <a:ext cx="2959851" cy="5160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None/>
            </a:pPr>
            <a:r>
              <a:rPr lang="en-US" b="1" i="1" dirty="0">
                <a:solidFill>
                  <a:srgbClr val="FFFFFF"/>
                </a:solidFill>
                <a:cs typeface="Arial"/>
              </a:rPr>
              <a:t>Vehicle Management</a:t>
            </a:r>
          </a:p>
        </p:txBody>
      </p:sp>
      <p:sp>
        <p:nvSpPr>
          <p:cNvPr id="22" name="Content Placeholder 4">
            <a:extLst>
              <a:ext uri="{FF2B5EF4-FFF2-40B4-BE49-F238E27FC236}">
                <a16:creationId xmlns:a16="http://schemas.microsoft.com/office/drawing/2014/main" id="{BE7E8E51-EA84-7DCB-CC6F-BB8FE1755D16}"/>
              </a:ext>
            </a:extLst>
          </p:cNvPr>
          <p:cNvSpPr txBox="1">
            <a:spLocks/>
          </p:cNvSpPr>
          <p:nvPr/>
        </p:nvSpPr>
        <p:spPr>
          <a:xfrm>
            <a:off x="351601" y="5817671"/>
            <a:ext cx="2959851" cy="5160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None/>
            </a:pPr>
            <a:r>
              <a:rPr lang="en-US" b="1" i="1" dirty="0">
                <a:solidFill>
                  <a:srgbClr val="FFFFFF"/>
                </a:solidFill>
                <a:cs typeface="Arial"/>
              </a:rPr>
              <a:t>Account Control &amp; Security</a:t>
            </a:r>
          </a:p>
        </p:txBody>
      </p:sp>
      <p:sp>
        <p:nvSpPr>
          <p:cNvPr id="23" name="Content Placeholder 6">
            <a:extLst>
              <a:ext uri="{FF2B5EF4-FFF2-40B4-BE49-F238E27FC236}">
                <a16:creationId xmlns:a16="http://schemas.microsoft.com/office/drawing/2014/main" id="{6FA37699-BBAD-EA8F-C16C-98C70E5DE80A}"/>
              </a:ext>
            </a:extLst>
          </p:cNvPr>
          <p:cNvSpPr txBox="1">
            <a:spLocks/>
          </p:cNvSpPr>
          <p:nvPr/>
        </p:nvSpPr>
        <p:spPr>
          <a:xfrm>
            <a:off x="3796252" y="3736635"/>
            <a:ext cx="7510417" cy="7120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None/>
            </a:pPr>
            <a:r>
              <a:rPr lang="en-US" sz="1200" i="1" dirty="0">
                <a:solidFill>
                  <a:srgbClr val="FFFFFF"/>
                </a:solidFill>
                <a:cs typeface="Arial"/>
              </a:rPr>
              <a:t>Two roles: Vehicle Owner and Parking Spot Owner. Vehicle Owners can book spots and manage vehicles. Parking Spot Owners can list/manage spots and view bookings.</a:t>
            </a:r>
          </a:p>
        </p:txBody>
      </p:sp>
      <p:sp>
        <p:nvSpPr>
          <p:cNvPr id="24" name="Content Placeholder 6">
            <a:extLst>
              <a:ext uri="{FF2B5EF4-FFF2-40B4-BE49-F238E27FC236}">
                <a16:creationId xmlns:a16="http://schemas.microsoft.com/office/drawing/2014/main" id="{5C814522-AD4E-92AB-F9B1-EE1FD196DBF3}"/>
              </a:ext>
            </a:extLst>
          </p:cNvPr>
          <p:cNvSpPr txBox="1">
            <a:spLocks/>
          </p:cNvSpPr>
          <p:nvPr/>
        </p:nvSpPr>
        <p:spPr>
          <a:xfrm>
            <a:off x="3485258" y="4553656"/>
            <a:ext cx="8179311" cy="7120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None/>
            </a:pPr>
            <a:r>
              <a:rPr lang="en-US" sz="1200" i="1" dirty="0">
                <a:solidFill>
                  <a:srgbClr val="FFFFFF"/>
                </a:solidFill>
                <a:cs typeface="Arial"/>
              </a:rPr>
              <a:t>View &amp; update profile (email re-verification needed). Reset and change passwords with OTP verification.</a:t>
            </a:r>
          </a:p>
        </p:txBody>
      </p:sp>
      <p:sp>
        <p:nvSpPr>
          <p:cNvPr id="25" name="Content Placeholder 6">
            <a:extLst>
              <a:ext uri="{FF2B5EF4-FFF2-40B4-BE49-F238E27FC236}">
                <a16:creationId xmlns:a16="http://schemas.microsoft.com/office/drawing/2014/main" id="{0B961C13-46A8-CDA2-C5A7-B0F7B0466E4D}"/>
              </a:ext>
            </a:extLst>
          </p:cNvPr>
          <p:cNvSpPr txBox="1">
            <a:spLocks/>
          </p:cNvSpPr>
          <p:nvPr/>
        </p:nvSpPr>
        <p:spPr>
          <a:xfrm>
            <a:off x="3485258" y="5260657"/>
            <a:ext cx="7915588" cy="7120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None/>
            </a:pPr>
            <a:r>
              <a:rPr lang="en-US" sz="1200" i="1" dirty="0">
                <a:solidFill>
                  <a:srgbClr val="FFFFFF"/>
                </a:solidFill>
                <a:cs typeface="Arial"/>
              </a:rPr>
              <a:t>Add, edit, delete vehicle details like number, type, model, and owner.</a:t>
            </a:r>
          </a:p>
        </p:txBody>
      </p:sp>
      <p:sp>
        <p:nvSpPr>
          <p:cNvPr id="26" name="Content Placeholder 6">
            <a:extLst>
              <a:ext uri="{FF2B5EF4-FFF2-40B4-BE49-F238E27FC236}">
                <a16:creationId xmlns:a16="http://schemas.microsoft.com/office/drawing/2014/main" id="{98F1155E-7217-2667-362C-C850582B9C9D}"/>
              </a:ext>
            </a:extLst>
          </p:cNvPr>
          <p:cNvSpPr txBox="1">
            <a:spLocks/>
          </p:cNvSpPr>
          <p:nvPr/>
        </p:nvSpPr>
        <p:spPr>
          <a:xfrm>
            <a:off x="3593667" y="5820890"/>
            <a:ext cx="7915588" cy="7120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None/>
            </a:pPr>
            <a:r>
              <a:rPr lang="en-US" sz="1200" i="1" dirty="0">
                <a:solidFill>
                  <a:srgbClr val="FFFFFF"/>
                </a:solidFill>
                <a:cs typeface="Arial"/>
              </a:rPr>
              <a:t>Temporary deactivation (reactivate via OTP). Permanent deletion removes all data. Security alerts &amp; OTP limits.</a:t>
            </a:r>
          </a:p>
        </p:txBody>
      </p:sp>
    </p:spTree>
    <p:extLst>
      <p:ext uri="{BB962C8B-B14F-4D97-AF65-F5344CB8AC3E}">
        <p14:creationId xmlns:p14="http://schemas.microsoft.com/office/powerpoint/2010/main" val="33270198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C39AAA-A4BC-3C3E-3AAE-E266B5926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931BE67A-3CE7-809F-A3E7-34D9BF8DD6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-17213" y="2659475"/>
            <a:ext cx="12209212" cy="4220722"/>
          </a:xfrm>
          <a:prstGeom prst="rect">
            <a:avLst/>
          </a:prstGeom>
        </p:spPr>
      </p:pic>
      <p:sp>
        <p:nvSpPr>
          <p:cNvPr id="12" name="object 3" descr="Blue rectangle">
            <a:extLst>
              <a:ext uri="{FF2B5EF4-FFF2-40B4-BE49-F238E27FC236}">
                <a16:creationId xmlns:a16="http://schemas.microsoft.com/office/drawing/2014/main" id="{D168C576-975D-0D20-E987-98FFA94F8179}"/>
              </a:ext>
            </a:extLst>
          </p:cNvPr>
          <p:cNvSpPr/>
          <p:nvPr/>
        </p:nvSpPr>
        <p:spPr>
          <a:xfrm>
            <a:off x="-17214" y="2659475"/>
            <a:ext cx="12209213" cy="4198525"/>
          </a:xfrm>
          <a:custGeom>
            <a:avLst/>
            <a:gdLst/>
            <a:ahLst/>
            <a:cxnLst/>
            <a:rect l="l" t="t" r="r" b="b"/>
            <a:pathLst>
              <a:path w="12189460" h="6858000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80000"/>
            </a:schemeClr>
          </a:solidFill>
        </p:spPr>
        <p:txBody>
          <a:bodyPr wrap="square" lIns="0" tIns="0" rIns="0" bIns="0" rtlCol="0"/>
          <a:lstStyle/>
          <a:p>
            <a:endParaRPr lang="en-US" dirty="0"/>
          </a:p>
        </p:txBody>
      </p:sp>
      <p:sp>
        <p:nvSpPr>
          <p:cNvPr id="13" name="Oval 12" descr="Beige oval">
            <a:extLst>
              <a:ext uri="{FF2B5EF4-FFF2-40B4-BE49-F238E27FC236}">
                <a16:creationId xmlns:a16="http://schemas.microsoft.com/office/drawing/2014/main" id="{C897210D-9717-688E-8FBB-FA765D1AEFDA}"/>
              </a:ext>
            </a:extLst>
          </p:cNvPr>
          <p:cNvSpPr/>
          <p:nvPr/>
        </p:nvSpPr>
        <p:spPr>
          <a:xfrm>
            <a:off x="11562237" y="6227432"/>
            <a:ext cx="266400" cy="266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4D70EB9-5EA4-EC5A-4544-EC769CD15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064" y="361648"/>
            <a:ext cx="10515600" cy="1325563"/>
          </a:xfrm>
        </p:spPr>
        <p:txBody>
          <a:bodyPr/>
          <a:lstStyle/>
          <a:p>
            <a:r>
              <a:rPr lang="en-US" dirty="0"/>
              <a:t>Parking Spot Management Module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FF65B4-86E2-144C-DE3D-50BDCFA727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18708" y="1734678"/>
            <a:ext cx="3789362" cy="823912"/>
          </a:xfrm>
        </p:spPr>
        <p:txBody>
          <a:bodyPr>
            <a:normAutofit/>
          </a:bodyPr>
          <a:lstStyle/>
          <a:p>
            <a:r>
              <a:rPr lang="en-US" sz="2000" dirty="0"/>
              <a:t>Features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20000E7-687C-2767-CFA6-88B35667C9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0886" y="3234537"/>
            <a:ext cx="2542503" cy="516042"/>
          </a:xfrm>
        </p:spPr>
        <p:txBody>
          <a:bodyPr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None/>
            </a:pPr>
            <a:r>
              <a:rPr lang="en-US" b="1" i="1" dirty="0">
                <a:solidFill>
                  <a:srgbClr val="FFFFFF"/>
                </a:solidFill>
                <a:cs typeface="Arial"/>
              </a:rPr>
              <a:t>Add New Parking Spot </a:t>
            </a:r>
            <a:r>
              <a:rPr lang="en-US" sz="1100" b="1" i="1" dirty="0">
                <a:solidFill>
                  <a:srgbClr val="FFFFFF"/>
                </a:solidFill>
                <a:cs typeface="Arial"/>
              </a:rPr>
              <a:t>(For Owners Only)</a:t>
            </a:r>
            <a:endParaRPr lang="en-US" b="1" i="1" dirty="0">
              <a:solidFill>
                <a:srgbClr val="FFFFFF"/>
              </a:solidFill>
              <a:cs typeface="Arial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D359EB2-A2AB-CB89-AB49-AD83747EF2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055795" y="1734678"/>
            <a:ext cx="4745038" cy="823912"/>
          </a:xfrm>
        </p:spPr>
        <p:txBody>
          <a:bodyPr>
            <a:normAutofit/>
          </a:bodyPr>
          <a:lstStyle/>
          <a:p>
            <a:r>
              <a:rPr lang="en-US" sz="2000" dirty="0"/>
              <a:t>	Description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5C1C4BE-C11F-61E0-0BF3-FDAF141A38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078637" y="3390631"/>
            <a:ext cx="7915838" cy="712002"/>
          </a:xfrm>
        </p:spPr>
        <p:txBody>
          <a:bodyPr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None/>
            </a:pPr>
            <a:r>
              <a:rPr lang="en-US" sz="1200" i="1" dirty="0">
                <a:solidFill>
                  <a:srgbClr val="FFFFFF"/>
                </a:solidFill>
                <a:cs typeface="Arial"/>
              </a:rPr>
              <a:t>Owners provide location, spot ID, price per hour, instructions, availability, and type (EV/Indoor/Outdoor).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4464EDB-E546-9DE9-0855-C5987A3AF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9" name="object 5" descr="Beige rectangle">
            <a:extLst>
              <a:ext uri="{FF2B5EF4-FFF2-40B4-BE49-F238E27FC236}">
                <a16:creationId xmlns:a16="http://schemas.microsoft.com/office/drawing/2014/main" id="{22E2DD79-1CB2-FA4A-35CF-5FD6AA26F166}"/>
              </a:ext>
            </a:extLst>
          </p:cNvPr>
          <p:cNvSpPr/>
          <p:nvPr/>
        </p:nvSpPr>
        <p:spPr>
          <a:xfrm>
            <a:off x="915637" y="1337103"/>
            <a:ext cx="3744000" cy="0"/>
          </a:xfrm>
          <a:custGeom>
            <a:avLst/>
            <a:gdLst/>
            <a:ahLst/>
            <a:cxnLst/>
            <a:rect l="l" t="t" r="r" b="b"/>
            <a:pathLst>
              <a:path w="3931920">
                <a:moveTo>
                  <a:pt x="0" y="0"/>
                </a:moveTo>
                <a:lnTo>
                  <a:pt x="3931920" y="0"/>
                </a:lnTo>
              </a:path>
            </a:pathLst>
          </a:custGeom>
          <a:ln w="54864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7C288A-FFD2-C4AB-D837-03F83AE4294E}"/>
              </a:ext>
            </a:extLst>
          </p:cNvPr>
          <p:cNvSpPr txBox="1"/>
          <p:nvPr/>
        </p:nvSpPr>
        <p:spPr>
          <a:xfrm>
            <a:off x="829285" y="1384571"/>
            <a:ext cx="112132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496776"/>
                </a:solidFill>
              </a:rPr>
              <a:t>The </a:t>
            </a:r>
            <a:r>
              <a:rPr lang="en-US" sz="1400" b="1" dirty="0">
                <a:solidFill>
                  <a:srgbClr val="496776"/>
                </a:solidFill>
              </a:rPr>
              <a:t>Parking Spot Management Module</a:t>
            </a:r>
            <a:r>
              <a:rPr lang="en-US" sz="1400" dirty="0">
                <a:solidFill>
                  <a:srgbClr val="496776"/>
                </a:solidFill>
              </a:rPr>
              <a:t> allows </a:t>
            </a:r>
            <a:r>
              <a:rPr lang="en-US" sz="1400" b="1" dirty="0">
                <a:solidFill>
                  <a:srgbClr val="496776"/>
                </a:solidFill>
              </a:rPr>
              <a:t>parking spot owners</a:t>
            </a:r>
            <a:r>
              <a:rPr lang="en-US" sz="1400" dirty="0">
                <a:solidFill>
                  <a:srgbClr val="496776"/>
                </a:solidFill>
              </a:rPr>
              <a:t> to efficiently </a:t>
            </a:r>
            <a:r>
              <a:rPr lang="en-US" sz="1400" b="1" dirty="0">
                <a:solidFill>
                  <a:srgbClr val="496776"/>
                </a:solidFill>
              </a:rPr>
              <a:t>add, update, and remove parking spots</a:t>
            </a:r>
            <a:r>
              <a:rPr lang="en-US" sz="1400" dirty="0">
                <a:solidFill>
                  <a:srgbClr val="496776"/>
                </a:solidFill>
              </a:rPr>
              <a:t>, while </a:t>
            </a:r>
            <a:r>
              <a:rPr lang="en-US" sz="1400" b="1" dirty="0">
                <a:solidFill>
                  <a:srgbClr val="496776"/>
                </a:solidFill>
              </a:rPr>
              <a:t>all users</a:t>
            </a:r>
            <a:r>
              <a:rPr lang="en-US" sz="1400" dirty="0">
                <a:solidFill>
                  <a:srgbClr val="496776"/>
                </a:solidFill>
              </a:rPr>
              <a:t> can </a:t>
            </a:r>
            <a:r>
              <a:rPr lang="en-US" sz="1400" b="1" dirty="0">
                <a:solidFill>
                  <a:srgbClr val="496776"/>
                </a:solidFill>
              </a:rPr>
              <a:t>search for available spots</a:t>
            </a:r>
            <a:r>
              <a:rPr lang="en-US" sz="1400" dirty="0">
                <a:solidFill>
                  <a:srgbClr val="496776"/>
                </a:solidFill>
              </a:rPr>
              <a:t> based on location and availability. </a:t>
            </a:r>
            <a:endParaRPr lang="en-IN" sz="1400" dirty="0">
              <a:solidFill>
                <a:srgbClr val="496776"/>
              </a:solidFill>
            </a:endParaRP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A2DCEA57-C667-56A2-B700-D712895BB6F4}"/>
              </a:ext>
            </a:extLst>
          </p:cNvPr>
          <p:cNvSpPr txBox="1">
            <a:spLocks/>
          </p:cNvSpPr>
          <p:nvPr/>
        </p:nvSpPr>
        <p:spPr>
          <a:xfrm>
            <a:off x="780111" y="3995634"/>
            <a:ext cx="2324055" cy="5160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None/>
            </a:pPr>
            <a:r>
              <a:rPr lang="en-US" b="1" i="1" dirty="0">
                <a:solidFill>
                  <a:srgbClr val="FFFFFF"/>
                </a:solidFill>
                <a:cs typeface="Arial"/>
              </a:rPr>
              <a:t>Update Parking Spot </a:t>
            </a:r>
            <a:r>
              <a:rPr lang="en-US" sz="1100" b="1" i="1" dirty="0">
                <a:solidFill>
                  <a:srgbClr val="FFFFFF"/>
                </a:solidFill>
                <a:cs typeface="Arial"/>
              </a:rPr>
              <a:t>(For Owners Only)</a:t>
            </a:r>
            <a:endParaRPr lang="en-US" sz="1400" b="1" i="1" dirty="0">
              <a:solidFill>
                <a:srgbClr val="FFFFFF"/>
              </a:solidFill>
              <a:cs typeface="Arial"/>
            </a:endParaRPr>
          </a:p>
        </p:txBody>
      </p:sp>
      <p:sp>
        <p:nvSpPr>
          <p:cNvPr id="20" name="Content Placeholder 4">
            <a:extLst>
              <a:ext uri="{FF2B5EF4-FFF2-40B4-BE49-F238E27FC236}">
                <a16:creationId xmlns:a16="http://schemas.microsoft.com/office/drawing/2014/main" id="{D36FC823-B7D1-F977-06C2-EEB641DA798C}"/>
              </a:ext>
            </a:extLst>
          </p:cNvPr>
          <p:cNvSpPr txBox="1">
            <a:spLocks/>
          </p:cNvSpPr>
          <p:nvPr/>
        </p:nvSpPr>
        <p:spPr>
          <a:xfrm>
            <a:off x="702810" y="4666962"/>
            <a:ext cx="2401356" cy="4742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None/>
            </a:pPr>
            <a:r>
              <a:rPr lang="en-US" b="1" i="1" dirty="0">
                <a:solidFill>
                  <a:srgbClr val="FFFFFF"/>
                </a:solidFill>
                <a:cs typeface="Arial"/>
              </a:rPr>
              <a:t>Remove Parking Spot </a:t>
            </a:r>
            <a:r>
              <a:rPr lang="en-US" sz="1100" b="1" i="1" dirty="0">
                <a:solidFill>
                  <a:srgbClr val="FFFFFF"/>
                </a:solidFill>
                <a:cs typeface="Arial"/>
              </a:rPr>
              <a:t>(For Owners Only)</a:t>
            </a:r>
            <a:endParaRPr lang="en-US" b="1" i="1" dirty="0">
              <a:solidFill>
                <a:srgbClr val="FFFFFF"/>
              </a:solidFill>
              <a:cs typeface="Arial"/>
            </a:endParaRPr>
          </a:p>
        </p:txBody>
      </p:sp>
      <p:sp>
        <p:nvSpPr>
          <p:cNvPr id="21" name="Content Placeholder 4">
            <a:extLst>
              <a:ext uri="{FF2B5EF4-FFF2-40B4-BE49-F238E27FC236}">
                <a16:creationId xmlns:a16="http://schemas.microsoft.com/office/drawing/2014/main" id="{AD1C1057-C8FC-450A-1A96-77BCDE1DE00A}"/>
              </a:ext>
            </a:extLst>
          </p:cNvPr>
          <p:cNvSpPr txBox="1">
            <a:spLocks/>
          </p:cNvSpPr>
          <p:nvPr/>
        </p:nvSpPr>
        <p:spPr>
          <a:xfrm>
            <a:off x="395610" y="5473429"/>
            <a:ext cx="2959851" cy="5160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None/>
            </a:pPr>
            <a:r>
              <a:rPr lang="en-US" b="1" i="1" dirty="0">
                <a:solidFill>
                  <a:srgbClr val="FFFFFF"/>
                </a:solidFill>
                <a:cs typeface="Arial"/>
              </a:rPr>
              <a:t>Search for Available Spots </a:t>
            </a:r>
            <a:r>
              <a:rPr lang="en-US" sz="1100" b="1" i="1" dirty="0">
                <a:solidFill>
                  <a:srgbClr val="FFFFFF"/>
                </a:solidFill>
                <a:cs typeface="Arial"/>
              </a:rPr>
              <a:t>(For All Users)</a:t>
            </a:r>
            <a:endParaRPr lang="en-US" sz="1200" b="1" i="1" dirty="0">
              <a:solidFill>
                <a:srgbClr val="FFFFFF"/>
              </a:solidFill>
              <a:cs typeface="Arial"/>
            </a:endParaRPr>
          </a:p>
        </p:txBody>
      </p:sp>
      <p:sp>
        <p:nvSpPr>
          <p:cNvPr id="23" name="Content Placeholder 6">
            <a:extLst>
              <a:ext uri="{FF2B5EF4-FFF2-40B4-BE49-F238E27FC236}">
                <a16:creationId xmlns:a16="http://schemas.microsoft.com/office/drawing/2014/main" id="{994AA1EA-558D-7BEB-047B-094596035FCC}"/>
              </a:ext>
            </a:extLst>
          </p:cNvPr>
          <p:cNvSpPr txBox="1">
            <a:spLocks/>
          </p:cNvSpPr>
          <p:nvPr/>
        </p:nvSpPr>
        <p:spPr>
          <a:xfrm>
            <a:off x="3862879" y="4159063"/>
            <a:ext cx="8131596" cy="7120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None/>
            </a:pPr>
            <a:r>
              <a:rPr lang="en-US" sz="1200" i="1" dirty="0">
                <a:solidFill>
                  <a:srgbClr val="FFFFFF"/>
                </a:solidFill>
                <a:cs typeface="Arial"/>
              </a:rPr>
              <a:t>Modify price, availability, location, type, or additional instructions.</a:t>
            </a:r>
          </a:p>
        </p:txBody>
      </p:sp>
      <p:sp>
        <p:nvSpPr>
          <p:cNvPr id="24" name="Content Placeholder 6">
            <a:extLst>
              <a:ext uri="{FF2B5EF4-FFF2-40B4-BE49-F238E27FC236}">
                <a16:creationId xmlns:a16="http://schemas.microsoft.com/office/drawing/2014/main" id="{C6BDF590-1D9E-BA9F-BFE5-DAD680E04E71}"/>
              </a:ext>
            </a:extLst>
          </p:cNvPr>
          <p:cNvSpPr txBox="1">
            <a:spLocks/>
          </p:cNvSpPr>
          <p:nvPr/>
        </p:nvSpPr>
        <p:spPr>
          <a:xfrm>
            <a:off x="3862879" y="4876883"/>
            <a:ext cx="7755262" cy="7120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None/>
            </a:pPr>
            <a:r>
              <a:rPr lang="en-US" sz="1200" i="1" dirty="0">
                <a:solidFill>
                  <a:srgbClr val="FFFFFF"/>
                </a:solidFill>
                <a:cs typeface="Arial"/>
              </a:rPr>
              <a:t>Delete spots when they are no longer operational.</a:t>
            </a:r>
          </a:p>
        </p:txBody>
      </p:sp>
      <p:sp>
        <p:nvSpPr>
          <p:cNvPr id="25" name="Content Placeholder 6">
            <a:extLst>
              <a:ext uri="{FF2B5EF4-FFF2-40B4-BE49-F238E27FC236}">
                <a16:creationId xmlns:a16="http://schemas.microsoft.com/office/drawing/2014/main" id="{AC799785-FEF9-649D-153F-B9AF7456B327}"/>
              </a:ext>
            </a:extLst>
          </p:cNvPr>
          <p:cNvSpPr txBox="1">
            <a:spLocks/>
          </p:cNvSpPr>
          <p:nvPr/>
        </p:nvSpPr>
        <p:spPr>
          <a:xfrm>
            <a:off x="3806975" y="5640922"/>
            <a:ext cx="7915838" cy="7120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None/>
            </a:pPr>
            <a:r>
              <a:rPr lang="en-US" sz="1200" i="1" dirty="0">
                <a:solidFill>
                  <a:srgbClr val="FFFFFF"/>
                </a:solidFill>
                <a:cs typeface="Arial"/>
              </a:rPr>
              <a:t>Filter spots by location and availability (Available/Unavailable/Both).</a:t>
            </a:r>
          </a:p>
        </p:txBody>
      </p:sp>
    </p:spTree>
    <p:extLst>
      <p:ext uri="{BB962C8B-B14F-4D97-AF65-F5344CB8AC3E}">
        <p14:creationId xmlns:p14="http://schemas.microsoft.com/office/powerpoint/2010/main" val="10046348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BBA093-8B41-50CE-D73B-CBB778F520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Placeholder 32">
            <a:extLst>
              <a:ext uri="{FF2B5EF4-FFF2-40B4-BE49-F238E27FC236}">
                <a16:creationId xmlns:a16="http://schemas.microsoft.com/office/drawing/2014/main" id="{C2ED116F-85BD-00D7-462E-F18298833AF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/>
          <a:stretch>
            <a:fillRect/>
          </a:stretch>
        </p:blipFill>
        <p:spPr>
          <a:xfrm>
            <a:off x="-1" y="2773366"/>
            <a:ext cx="12192001" cy="4084635"/>
          </a:xfrm>
        </p:spPr>
      </p:pic>
      <p:sp>
        <p:nvSpPr>
          <p:cNvPr id="12" name="object 3" descr="Blue rectangle">
            <a:extLst>
              <a:ext uri="{FF2B5EF4-FFF2-40B4-BE49-F238E27FC236}">
                <a16:creationId xmlns:a16="http://schemas.microsoft.com/office/drawing/2014/main" id="{35B8C23A-3AA8-2E7E-D429-4BAC888480B0}"/>
              </a:ext>
            </a:extLst>
          </p:cNvPr>
          <p:cNvSpPr/>
          <p:nvPr/>
        </p:nvSpPr>
        <p:spPr>
          <a:xfrm>
            <a:off x="-2" y="2773366"/>
            <a:ext cx="12192001" cy="4095883"/>
          </a:xfrm>
          <a:custGeom>
            <a:avLst/>
            <a:gdLst/>
            <a:ahLst/>
            <a:cxnLst/>
            <a:rect l="l" t="t" r="r" b="b"/>
            <a:pathLst>
              <a:path w="12189460" h="6858000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80000"/>
            </a:schemeClr>
          </a:solidFill>
        </p:spPr>
        <p:txBody>
          <a:bodyPr wrap="square" lIns="0" tIns="0" rIns="0" bIns="0" rtlCol="0"/>
          <a:lstStyle/>
          <a:p>
            <a:endParaRPr lang="en-US" dirty="0"/>
          </a:p>
        </p:txBody>
      </p:sp>
      <p:sp>
        <p:nvSpPr>
          <p:cNvPr id="13" name="Oval 12" descr="Beige oval">
            <a:extLst>
              <a:ext uri="{FF2B5EF4-FFF2-40B4-BE49-F238E27FC236}">
                <a16:creationId xmlns:a16="http://schemas.microsoft.com/office/drawing/2014/main" id="{AD229B2E-5DD4-7F1F-D0EE-2BE454E7F92F}"/>
              </a:ext>
            </a:extLst>
          </p:cNvPr>
          <p:cNvSpPr/>
          <p:nvPr/>
        </p:nvSpPr>
        <p:spPr>
          <a:xfrm>
            <a:off x="11562237" y="6227432"/>
            <a:ext cx="266400" cy="266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552CB1C-F634-FB71-2255-268C40C3D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064" y="361648"/>
            <a:ext cx="10515600" cy="1325563"/>
          </a:xfrm>
        </p:spPr>
        <p:txBody>
          <a:bodyPr/>
          <a:lstStyle/>
          <a:p>
            <a:r>
              <a:rPr lang="en-US" dirty="0"/>
              <a:t>Parking Spot Booking Module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4C36CD-3918-534F-42E1-8A367CF73F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56347" y="1832849"/>
            <a:ext cx="3789362" cy="823912"/>
          </a:xfrm>
        </p:spPr>
        <p:txBody>
          <a:bodyPr>
            <a:normAutofit/>
          </a:bodyPr>
          <a:lstStyle/>
          <a:p>
            <a:r>
              <a:rPr lang="en-US" sz="2000" dirty="0"/>
              <a:t>Features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34448D7-F382-C8DE-5C96-004D345098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1758" y="3293504"/>
            <a:ext cx="2325706" cy="516042"/>
          </a:xfrm>
        </p:spPr>
        <p:txBody>
          <a:bodyPr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None/>
            </a:pPr>
            <a:r>
              <a:rPr lang="en-US" b="1" i="1" dirty="0">
                <a:solidFill>
                  <a:srgbClr val="FFFFFF"/>
                </a:solidFill>
                <a:cs typeface="Arial"/>
              </a:rPr>
              <a:t>Book an Available Parking Spot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7519DA-874A-4AF1-7FFC-242A1DD47F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90615" y="1844097"/>
            <a:ext cx="4745038" cy="823912"/>
          </a:xfrm>
        </p:spPr>
        <p:txBody>
          <a:bodyPr>
            <a:normAutofit/>
          </a:bodyPr>
          <a:lstStyle/>
          <a:p>
            <a:r>
              <a:rPr lang="en-US" sz="2000" dirty="0"/>
              <a:t>	Description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E8B3D17-FADB-3618-4C61-11E3800C71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2625068" y="3363575"/>
            <a:ext cx="10408398" cy="322730"/>
          </a:xfrm>
        </p:spPr>
        <p:txBody>
          <a:bodyPr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None/>
            </a:pPr>
            <a:r>
              <a:rPr lang="en-US" sz="1200" i="1" dirty="0">
                <a:solidFill>
                  <a:srgbClr val="FFFFFF"/>
                </a:solidFill>
                <a:cs typeface="Arial"/>
              </a:rPr>
              <a:t>Users can select a parking spot based on location, time, and availability, ensuring hassle-free reservations.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BC4CB28-1C79-EE32-1D5F-0B8A7B636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9" name="object 5" descr="Beige rectangle">
            <a:extLst>
              <a:ext uri="{FF2B5EF4-FFF2-40B4-BE49-F238E27FC236}">
                <a16:creationId xmlns:a16="http://schemas.microsoft.com/office/drawing/2014/main" id="{0B1F3139-E30E-E959-E98E-7ED139A63F87}"/>
              </a:ext>
            </a:extLst>
          </p:cNvPr>
          <p:cNvSpPr/>
          <p:nvPr/>
        </p:nvSpPr>
        <p:spPr>
          <a:xfrm>
            <a:off x="915637" y="1337103"/>
            <a:ext cx="3744000" cy="0"/>
          </a:xfrm>
          <a:custGeom>
            <a:avLst/>
            <a:gdLst/>
            <a:ahLst/>
            <a:cxnLst/>
            <a:rect l="l" t="t" r="r" b="b"/>
            <a:pathLst>
              <a:path w="3931920">
                <a:moveTo>
                  <a:pt x="0" y="0"/>
                </a:moveTo>
                <a:lnTo>
                  <a:pt x="3931920" y="0"/>
                </a:lnTo>
              </a:path>
            </a:pathLst>
          </a:custGeom>
          <a:ln w="54864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3151E59-E179-2853-AA0B-8B5EC1450BD5}"/>
              </a:ext>
            </a:extLst>
          </p:cNvPr>
          <p:cNvSpPr txBox="1"/>
          <p:nvPr/>
        </p:nvSpPr>
        <p:spPr>
          <a:xfrm>
            <a:off x="798064" y="1429971"/>
            <a:ext cx="110828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496776"/>
                </a:solidFill>
              </a:rPr>
              <a:t>Enables secure user onboarding with </a:t>
            </a:r>
            <a:r>
              <a:rPr lang="en-US" sz="1600" b="1" dirty="0">
                <a:solidFill>
                  <a:srgbClr val="496776"/>
                </a:solidFill>
              </a:rPr>
              <a:t>role-based access, profile management, and enhanced security features.</a:t>
            </a:r>
            <a:endParaRPr lang="en-IN" sz="1600" dirty="0">
              <a:solidFill>
                <a:srgbClr val="496776"/>
              </a:solidFill>
            </a:endParaRP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9ED01E3E-43AF-D7C1-9451-3EB98247A723}"/>
              </a:ext>
            </a:extLst>
          </p:cNvPr>
          <p:cNvSpPr txBox="1">
            <a:spLocks/>
          </p:cNvSpPr>
          <p:nvPr/>
        </p:nvSpPr>
        <p:spPr>
          <a:xfrm>
            <a:off x="150366" y="3982206"/>
            <a:ext cx="3139404" cy="5160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None/>
            </a:pPr>
            <a:r>
              <a:rPr lang="en-US" b="1" i="1" dirty="0">
                <a:solidFill>
                  <a:srgbClr val="FFFFFF"/>
                </a:solidFill>
                <a:cs typeface="Arial"/>
              </a:rPr>
              <a:t>View Booking History</a:t>
            </a:r>
          </a:p>
        </p:txBody>
      </p:sp>
      <p:sp>
        <p:nvSpPr>
          <p:cNvPr id="20" name="Content Placeholder 4">
            <a:extLst>
              <a:ext uri="{FF2B5EF4-FFF2-40B4-BE49-F238E27FC236}">
                <a16:creationId xmlns:a16="http://schemas.microsoft.com/office/drawing/2014/main" id="{1174C680-3F7E-71DB-3011-FC96506BD79C}"/>
              </a:ext>
            </a:extLst>
          </p:cNvPr>
          <p:cNvSpPr txBox="1">
            <a:spLocks/>
          </p:cNvSpPr>
          <p:nvPr/>
        </p:nvSpPr>
        <p:spPr>
          <a:xfrm>
            <a:off x="240143" y="4612412"/>
            <a:ext cx="2959851" cy="4742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None/>
            </a:pPr>
            <a:r>
              <a:rPr lang="en-US" b="1" i="1" dirty="0">
                <a:solidFill>
                  <a:srgbClr val="FFFFFF"/>
                </a:solidFill>
                <a:cs typeface="Arial"/>
              </a:rPr>
              <a:t>Modify Booking Details</a:t>
            </a:r>
          </a:p>
        </p:txBody>
      </p:sp>
      <p:sp>
        <p:nvSpPr>
          <p:cNvPr id="21" name="Content Placeholder 4">
            <a:extLst>
              <a:ext uri="{FF2B5EF4-FFF2-40B4-BE49-F238E27FC236}">
                <a16:creationId xmlns:a16="http://schemas.microsoft.com/office/drawing/2014/main" id="{F9B24BE5-16C6-078C-992F-BF9BBD87E8D1}"/>
              </a:ext>
            </a:extLst>
          </p:cNvPr>
          <p:cNvSpPr txBox="1">
            <a:spLocks/>
          </p:cNvSpPr>
          <p:nvPr/>
        </p:nvSpPr>
        <p:spPr>
          <a:xfrm>
            <a:off x="372972" y="5227629"/>
            <a:ext cx="2959851" cy="5160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None/>
            </a:pPr>
            <a:r>
              <a:rPr lang="en-US" b="1" i="1" dirty="0">
                <a:solidFill>
                  <a:srgbClr val="FFFFFF"/>
                </a:solidFill>
                <a:cs typeface="Arial"/>
              </a:rPr>
              <a:t>Cancel a Booking</a:t>
            </a:r>
          </a:p>
        </p:txBody>
      </p:sp>
      <p:sp>
        <p:nvSpPr>
          <p:cNvPr id="22" name="Content Placeholder 4">
            <a:extLst>
              <a:ext uri="{FF2B5EF4-FFF2-40B4-BE49-F238E27FC236}">
                <a16:creationId xmlns:a16="http://schemas.microsoft.com/office/drawing/2014/main" id="{E2F23349-67F5-58EF-0627-23CDDB3274C9}"/>
              </a:ext>
            </a:extLst>
          </p:cNvPr>
          <p:cNvSpPr txBox="1">
            <a:spLocks/>
          </p:cNvSpPr>
          <p:nvPr/>
        </p:nvSpPr>
        <p:spPr>
          <a:xfrm>
            <a:off x="351601" y="5817671"/>
            <a:ext cx="2959851" cy="5160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None/>
            </a:pPr>
            <a:r>
              <a:rPr lang="en-US" b="1" i="1" dirty="0">
                <a:solidFill>
                  <a:srgbClr val="FFFFFF"/>
                </a:solidFill>
                <a:cs typeface="Arial"/>
              </a:rPr>
              <a:t>Identify Booking via Mobile Number/ Spots</a:t>
            </a:r>
          </a:p>
        </p:txBody>
      </p:sp>
      <p:sp>
        <p:nvSpPr>
          <p:cNvPr id="23" name="Content Placeholder 6">
            <a:extLst>
              <a:ext uri="{FF2B5EF4-FFF2-40B4-BE49-F238E27FC236}">
                <a16:creationId xmlns:a16="http://schemas.microsoft.com/office/drawing/2014/main" id="{B336EEC2-1E95-E849-B29A-0B5F554882B2}"/>
              </a:ext>
            </a:extLst>
          </p:cNvPr>
          <p:cNvSpPr txBox="1">
            <a:spLocks/>
          </p:cNvSpPr>
          <p:nvPr/>
        </p:nvSpPr>
        <p:spPr>
          <a:xfrm>
            <a:off x="2917464" y="4009027"/>
            <a:ext cx="9314898" cy="7120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None/>
            </a:pPr>
            <a:r>
              <a:rPr lang="en-US" sz="1200" i="1" dirty="0">
                <a:solidFill>
                  <a:srgbClr val="FFFFFF"/>
                </a:solidFill>
                <a:cs typeface="Arial"/>
              </a:rPr>
              <a:t>Users can track their past and current parking reservations, including booking status (confirmed, completed, or canceled).</a:t>
            </a:r>
          </a:p>
        </p:txBody>
      </p:sp>
      <p:sp>
        <p:nvSpPr>
          <p:cNvPr id="24" name="Content Placeholder 6">
            <a:extLst>
              <a:ext uri="{FF2B5EF4-FFF2-40B4-BE49-F238E27FC236}">
                <a16:creationId xmlns:a16="http://schemas.microsoft.com/office/drawing/2014/main" id="{17758C61-AC04-37C4-5856-D39DDE61CB1A}"/>
              </a:ext>
            </a:extLst>
          </p:cNvPr>
          <p:cNvSpPr txBox="1">
            <a:spLocks/>
          </p:cNvSpPr>
          <p:nvPr/>
        </p:nvSpPr>
        <p:spPr>
          <a:xfrm>
            <a:off x="3485258" y="4612412"/>
            <a:ext cx="8179311" cy="7120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None/>
            </a:pPr>
            <a:r>
              <a:rPr lang="en-US" sz="1200" i="1" dirty="0">
                <a:solidFill>
                  <a:srgbClr val="FFFFFF"/>
                </a:solidFill>
                <a:cs typeface="Arial"/>
              </a:rPr>
              <a:t>Users can update their booking details, such as extending the duration or changing the time slot (based on availability).</a:t>
            </a:r>
          </a:p>
        </p:txBody>
      </p:sp>
      <p:sp>
        <p:nvSpPr>
          <p:cNvPr id="25" name="Content Placeholder 6">
            <a:extLst>
              <a:ext uri="{FF2B5EF4-FFF2-40B4-BE49-F238E27FC236}">
                <a16:creationId xmlns:a16="http://schemas.microsoft.com/office/drawing/2014/main" id="{63B756EA-2924-8E3A-C7A7-B76907FC49BE}"/>
              </a:ext>
            </a:extLst>
          </p:cNvPr>
          <p:cNvSpPr txBox="1">
            <a:spLocks/>
          </p:cNvSpPr>
          <p:nvPr/>
        </p:nvSpPr>
        <p:spPr>
          <a:xfrm>
            <a:off x="3485258" y="5289871"/>
            <a:ext cx="7915588" cy="7120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None/>
            </a:pPr>
            <a:r>
              <a:rPr lang="en-US" sz="1200" i="1" dirty="0">
                <a:solidFill>
                  <a:srgbClr val="FFFFFF"/>
                </a:solidFill>
                <a:cs typeface="Arial"/>
              </a:rPr>
              <a:t>Users can cancel their reservation before the booking time if their plans change.</a:t>
            </a:r>
          </a:p>
        </p:txBody>
      </p:sp>
      <p:sp>
        <p:nvSpPr>
          <p:cNvPr id="26" name="Content Placeholder 6">
            <a:extLst>
              <a:ext uri="{FF2B5EF4-FFF2-40B4-BE49-F238E27FC236}">
                <a16:creationId xmlns:a16="http://schemas.microsoft.com/office/drawing/2014/main" id="{33AFCDEF-A58C-8727-33C1-F89847E06F40}"/>
              </a:ext>
            </a:extLst>
          </p:cNvPr>
          <p:cNvSpPr txBox="1">
            <a:spLocks/>
          </p:cNvSpPr>
          <p:nvPr/>
        </p:nvSpPr>
        <p:spPr>
          <a:xfrm>
            <a:off x="3663053" y="5952121"/>
            <a:ext cx="7915588" cy="7120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None/>
            </a:pPr>
            <a:r>
              <a:rPr lang="en-US" sz="1200" i="1" dirty="0">
                <a:solidFill>
                  <a:srgbClr val="FFFFFF"/>
                </a:solidFill>
                <a:cs typeface="Arial"/>
              </a:rPr>
              <a:t>Users can enter their registered mobile number or spot name to quickly retrieve their booking details.</a:t>
            </a:r>
          </a:p>
        </p:txBody>
      </p:sp>
    </p:spTree>
    <p:extLst>
      <p:ext uri="{BB962C8B-B14F-4D97-AF65-F5344CB8AC3E}">
        <p14:creationId xmlns:p14="http://schemas.microsoft.com/office/powerpoint/2010/main" val="37002321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219496-D68B-751E-9D8D-9637AB017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079A904B-27FA-EBF8-0E11-30A136E9B2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0" y="2720321"/>
            <a:ext cx="12186017" cy="4144267"/>
          </a:xfrm>
          <a:prstGeom prst="rect">
            <a:avLst/>
          </a:prstGeom>
        </p:spPr>
      </p:pic>
      <p:sp>
        <p:nvSpPr>
          <p:cNvPr id="12" name="object 3" descr="Blue rectangle">
            <a:extLst>
              <a:ext uri="{FF2B5EF4-FFF2-40B4-BE49-F238E27FC236}">
                <a16:creationId xmlns:a16="http://schemas.microsoft.com/office/drawing/2014/main" id="{7748E892-DD96-2B51-13CD-F84AE3BD8232}"/>
              </a:ext>
            </a:extLst>
          </p:cNvPr>
          <p:cNvSpPr/>
          <p:nvPr/>
        </p:nvSpPr>
        <p:spPr>
          <a:xfrm>
            <a:off x="0" y="2726909"/>
            <a:ext cx="12204039" cy="4137679"/>
          </a:xfrm>
          <a:custGeom>
            <a:avLst/>
            <a:gdLst/>
            <a:ahLst/>
            <a:cxnLst/>
            <a:rect l="l" t="t" r="r" b="b"/>
            <a:pathLst>
              <a:path w="12189460" h="6858000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80000"/>
            </a:schemeClr>
          </a:solidFill>
        </p:spPr>
        <p:txBody>
          <a:bodyPr wrap="square" lIns="0" tIns="0" rIns="0" bIns="0" rtlCol="0"/>
          <a:lstStyle/>
          <a:p>
            <a:endParaRPr lang="en-US" dirty="0"/>
          </a:p>
        </p:txBody>
      </p:sp>
      <p:sp>
        <p:nvSpPr>
          <p:cNvPr id="13" name="Oval 12" descr="Beige oval">
            <a:extLst>
              <a:ext uri="{FF2B5EF4-FFF2-40B4-BE49-F238E27FC236}">
                <a16:creationId xmlns:a16="http://schemas.microsoft.com/office/drawing/2014/main" id="{68DCEF0D-18ED-9721-1214-E9BAE4892BE4}"/>
              </a:ext>
            </a:extLst>
          </p:cNvPr>
          <p:cNvSpPr/>
          <p:nvPr/>
        </p:nvSpPr>
        <p:spPr>
          <a:xfrm>
            <a:off x="11562237" y="6227432"/>
            <a:ext cx="266400" cy="266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CB141F7-0E51-F5D9-3B21-B1F356751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064" y="361648"/>
            <a:ext cx="10515600" cy="1325563"/>
          </a:xfrm>
        </p:spPr>
        <p:txBody>
          <a:bodyPr/>
          <a:lstStyle/>
          <a:p>
            <a:r>
              <a:rPr lang="en-US" dirty="0"/>
              <a:t>Addon Services Module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B8E8B6-7F16-BEE0-7753-EE1C14DEF5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72473" y="1764936"/>
            <a:ext cx="3789362" cy="823912"/>
          </a:xfrm>
        </p:spPr>
        <p:txBody>
          <a:bodyPr>
            <a:normAutofit/>
          </a:bodyPr>
          <a:lstStyle/>
          <a:p>
            <a:r>
              <a:rPr lang="en-US" sz="2000" dirty="0"/>
              <a:t>Features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ABE916F-7F14-FEE2-3AC6-D350DE6EA4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448" y="2949349"/>
            <a:ext cx="3375868" cy="490249"/>
          </a:xfrm>
        </p:spPr>
        <p:txBody>
          <a:bodyPr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None/>
            </a:pPr>
            <a:r>
              <a:rPr lang="en-US" b="1" i="1" dirty="0">
                <a:solidFill>
                  <a:srgbClr val="FFFFFF"/>
                </a:solidFill>
                <a:cs typeface="Arial"/>
              </a:rPr>
              <a:t>Add New Addon Services</a:t>
            </a:r>
          </a:p>
          <a:p>
            <a:pPr marL="0" indent="0" algn="ctr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None/>
            </a:pPr>
            <a:r>
              <a:rPr lang="en-US" sz="1100" b="1" i="1" dirty="0">
                <a:solidFill>
                  <a:srgbClr val="FFFFFF"/>
                </a:solidFill>
                <a:cs typeface="Arial"/>
              </a:rPr>
              <a:t>(For Owners Only)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D7B7A3E-4694-889F-DD3F-85A429EDAD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960439" y="1716386"/>
            <a:ext cx="4745038" cy="823912"/>
          </a:xfrm>
        </p:spPr>
        <p:txBody>
          <a:bodyPr>
            <a:normAutofit/>
          </a:bodyPr>
          <a:lstStyle/>
          <a:p>
            <a:r>
              <a:rPr lang="en-US" sz="2000" dirty="0"/>
              <a:t>	Description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199B9A7-DC07-5EC4-A943-36A23B55BA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464787" y="3081746"/>
            <a:ext cx="8700759" cy="292570"/>
          </a:xfrm>
        </p:spPr>
        <p:txBody>
          <a:bodyPr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None/>
            </a:pPr>
            <a:r>
              <a:rPr lang="en-US" sz="1200" i="1" dirty="0">
                <a:solidFill>
                  <a:srgbClr val="FFFFFF"/>
                </a:solidFill>
                <a:cs typeface="Arial"/>
              </a:rPr>
              <a:t>Parking Spot Owner can create and list additional services such as exterior/ interior cleaning, polishing, and maintenance.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8474162-6E56-3B73-1377-0292F692A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9" name="object 5" descr="Beige rectangle">
            <a:extLst>
              <a:ext uri="{FF2B5EF4-FFF2-40B4-BE49-F238E27FC236}">
                <a16:creationId xmlns:a16="http://schemas.microsoft.com/office/drawing/2014/main" id="{E7E82EF0-DEF8-AB9D-094D-25FD17572559}"/>
              </a:ext>
            </a:extLst>
          </p:cNvPr>
          <p:cNvSpPr/>
          <p:nvPr/>
        </p:nvSpPr>
        <p:spPr>
          <a:xfrm>
            <a:off x="915637" y="1337103"/>
            <a:ext cx="3744000" cy="0"/>
          </a:xfrm>
          <a:custGeom>
            <a:avLst/>
            <a:gdLst/>
            <a:ahLst/>
            <a:cxnLst/>
            <a:rect l="l" t="t" r="r" b="b"/>
            <a:pathLst>
              <a:path w="3931920">
                <a:moveTo>
                  <a:pt x="0" y="0"/>
                </a:moveTo>
                <a:lnTo>
                  <a:pt x="3931920" y="0"/>
                </a:lnTo>
              </a:path>
            </a:pathLst>
          </a:custGeom>
          <a:ln w="54864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34E101A-03BB-2784-0CAB-432623AFF66E}"/>
              </a:ext>
            </a:extLst>
          </p:cNvPr>
          <p:cNvSpPr txBox="1"/>
          <p:nvPr/>
        </p:nvSpPr>
        <p:spPr>
          <a:xfrm>
            <a:off x="798064" y="1396650"/>
            <a:ext cx="110743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496776"/>
                </a:solidFill>
              </a:rPr>
              <a:t>The Addon Services Module enhances user convenience by offering on-demand vehicle services like cleaning, maintenance, and seamlessly integrated with parking reservations.</a:t>
            </a:r>
            <a:endParaRPr lang="en-IN" sz="1600" dirty="0">
              <a:solidFill>
                <a:srgbClr val="496776"/>
              </a:solidFill>
            </a:endParaRP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12582A5A-2208-F6F0-C3EF-E9F22C6EA809}"/>
              </a:ext>
            </a:extLst>
          </p:cNvPr>
          <p:cNvSpPr txBox="1">
            <a:spLocks/>
          </p:cNvSpPr>
          <p:nvPr/>
        </p:nvSpPr>
        <p:spPr>
          <a:xfrm>
            <a:off x="110842" y="3619621"/>
            <a:ext cx="3291075" cy="6476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None/>
            </a:pPr>
            <a:r>
              <a:rPr lang="en-US" b="1" i="1" dirty="0">
                <a:solidFill>
                  <a:srgbClr val="FFFFFF"/>
                </a:solidFill>
                <a:cs typeface="Arial"/>
              </a:rPr>
              <a:t>View Available Addon Services</a:t>
            </a:r>
          </a:p>
          <a:p>
            <a:pPr marL="0" indent="0" algn="ctr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None/>
            </a:pPr>
            <a:r>
              <a:rPr lang="en-US" sz="1100" b="1" i="1" dirty="0">
                <a:solidFill>
                  <a:srgbClr val="FFFFFF"/>
                </a:solidFill>
                <a:cs typeface="Arial"/>
              </a:rPr>
              <a:t>(For All Users)</a:t>
            </a:r>
          </a:p>
          <a:p>
            <a:pPr marL="0" indent="0" algn="ctr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None/>
            </a:pPr>
            <a:endParaRPr lang="en-US" b="1" i="1" dirty="0">
              <a:solidFill>
                <a:srgbClr val="FFFFFF"/>
              </a:solidFill>
              <a:cs typeface="Arial"/>
            </a:endParaRPr>
          </a:p>
        </p:txBody>
      </p:sp>
      <p:sp>
        <p:nvSpPr>
          <p:cNvPr id="20" name="Content Placeholder 4">
            <a:extLst>
              <a:ext uri="{FF2B5EF4-FFF2-40B4-BE49-F238E27FC236}">
                <a16:creationId xmlns:a16="http://schemas.microsoft.com/office/drawing/2014/main" id="{AF95DFE6-A988-E3E1-8729-B547FB54C3B7}"/>
              </a:ext>
            </a:extLst>
          </p:cNvPr>
          <p:cNvSpPr txBox="1">
            <a:spLocks/>
          </p:cNvSpPr>
          <p:nvPr/>
        </p:nvSpPr>
        <p:spPr>
          <a:xfrm>
            <a:off x="309743" y="4313582"/>
            <a:ext cx="2803096" cy="5590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None/>
            </a:pPr>
            <a:r>
              <a:rPr lang="en-US" b="1" i="1" dirty="0">
                <a:solidFill>
                  <a:srgbClr val="FFFFFF"/>
                </a:solidFill>
                <a:cs typeface="Arial"/>
              </a:rPr>
              <a:t>Book Addon Services with Parking Spot</a:t>
            </a:r>
          </a:p>
          <a:p>
            <a:pPr marL="0" indent="0" algn="ctr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None/>
            </a:pPr>
            <a:r>
              <a:rPr lang="en-US" sz="1100" b="1" i="1" dirty="0">
                <a:solidFill>
                  <a:srgbClr val="FFFFFF"/>
                </a:solidFill>
                <a:cs typeface="Arial"/>
              </a:rPr>
              <a:t>(For All Users)</a:t>
            </a:r>
          </a:p>
          <a:p>
            <a:pPr marL="0" indent="0" algn="ctr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None/>
            </a:pPr>
            <a:endParaRPr lang="en-US" b="1" i="1" dirty="0">
              <a:solidFill>
                <a:srgbClr val="FFFFFF"/>
              </a:solidFill>
              <a:cs typeface="Arial"/>
            </a:endParaRPr>
          </a:p>
        </p:txBody>
      </p:sp>
      <p:sp>
        <p:nvSpPr>
          <p:cNvPr id="21" name="Content Placeholder 4">
            <a:extLst>
              <a:ext uri="{FF2B5EF4-FFF2-40B4-BE49-F238E27FC236}">
                <a16:creationId xmlns:a16="http://schemas.microsoft.com/office/drawing/2014/main" id="{B759D9C0-8E81-0FE8-A4D2-A186FCF356B6}"/>
              </a:ext>
            </a:extLst>
          </p:cNvPr>
          <p:cNvSpPr txBox="1">
            <a:spLocks/>
          </p:cNvSpPr>
          <p:nvPr/>
        </p:nvSpPr>
        <p:spPr>
          <a:xfrm>
            <a:off x="276453" y="5244168"/>
            <a:ext cx="2959851" cy="5160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None/>
            </a:pPr>
            <a:r>
              <a:rPr lang="en-US" b="1" i="1" dirty="0">
                <a:solidFill>
                  <a:srgbClr val="FFFFFF"/>
                </a:solidFill>
                <a:cs typeface="Arial"/>
              </a:rPr>
              <a:t>Modify Addon Service Details</a:t>
            </a:r>
          </a:p>
          <a:p>
            <a:pPr marL="0" indent="0" algn="ctr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None/>
            </a:pPr>
            <a:r>
              <a:rPr lang="en-US" sz="1100" b="1" i="1" dirty="0">
                <a:solidFill>
                  <a:srgbClr val="FFFFFF"/>
                </a:solidFill>
                <a:cs typeface="Arial"/>
              </a:rPr>
              <a:t>(For Owners Only)</a:t>
            </a:r>
          </a:p>
          <a:p>
            <a:pPr marL="0" indent="0" algn="ctr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None/>
            </a:pPr>
            <a:endParaRPr lang="en-US" b="1" i="1" dirty="0">
              <a:solidFill>
                <a:srgbClr val="FFFFFF"/>
              </a:solidFill>
              <a:cs typeface="Arial"/>
            </a:endParaRPr>
          </a:p>
          <a:p>
            <a:pPr marL="0" indent="0" algn="ctr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None/>
            </a:pPr>
            <a:endParaRPr lang="en-US" b="1" i="1" dirty="0">
              <a:solidFill>
                <a:srgbClr val="FFFFFF"/>
              </a:solidFill>
              <a:cs typeface="Arial"/>
            </a:endParaRPr>
          </a:p>
        </p:txBody>
      </p:sp>
      <p:sp>
        <p:nvSpPr>
          <p:cNvPr id="22" name="Content Placeholder 4">
            <a:extLst>
              <a:ext uri="{FF2B5EF4-FFF2-40B4-BE49-F238E27FC236}">
                <a16:creationId xmlns:a16="http://schemas.microsoft.com/office/drawing/2014/main" id="{7D56DC83-770A-BDD3-AAB9-2AA217B2EB80}"/>
              </a:ext>
            </a:extLst>
          </p:cNvPr>
          <p:cNvSpPr txBox="1">
            <a:spLocks/>
          </p:cNvSpPr>
          <p:nvPr/>
        </p:nvSpPr>
        <p:spPr>
          <a:xfrm>
            <a:off x="324137" y="6131789"/>
            <a:ext cx="2959851" cy="5160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None/>
            </a:pPr>
            <a:r>
              <a:rPr lang="en-US" b="1" i="1" dirty="0">
                <a:solidFill>
                  <a:srgbClr val="FFFFFF"/>
                </a:solidFill>
                <a:cs typeface="Arial"/>
              </a:rPr>
              <a:t>Delete Addon Services</a:t>
            </a:r>
          </a:p>
          <a:p>
            <a:pPr marL="0" indent="0" algn="ctr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None/>
            </a:pPr>
            <a:r>
              <a:rPr lang="en-US" sz="1100" b="1" i="1" dirty="0">
                <a:solidFill>
                  <a:srgbClr val="FFFFFF"/>
                </a:solidFill>
                <a:cs typeface="Arial"/>
              </a:rPr>
              <a:t>(For All Users)</a:t>
            </a:r>
          </a:p>
          <a:p>
            <a:pPr marL="0" indent="0" algn="ctr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None/>
            </a:pPr>
            <a:endParaRPr lang="en-US" b="1" i="1" dirty="0">
              <a:solidFill>
                <a:srgbClr val="FFFFFF"/>
              </a:solidFill>
              <a:cs typeface="Arial"/>
            </a:endParaRPr>
          </a:p>
          <a:p>
            <a:pPr marL="0" indent="0" algn="ctr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None/>
            </a:pPr>
            <a:endParaRPr lang="en-US" b="1" i="1" dirty="0">
              <a:solidFill>
                <a:srgbClr val="FFFFFF"/>
              </a:solidFill>
              <a:cs typeface="Arial"/>
            </a:endParaRPr>
          </a:p>
        </p:txBody>
      </p:sp>
      <p:sp>
        <p:nvSpPr>
          <p:cNvPr id="23" name="Content Placeholder 6">
            <a:extLst>
              <a:ext uri="{FF2B5EF4-FFF2-40B4-BE49-F238E27FC236}">
                <a16:creationId xmlns:a16="http://schemas.microsoft.com/office/drawing/2014/main" id="{746F90D9-1743-2355-C42A-D3A82321BB1E}"/>
              </a:ext>
            </a:extLst>
          </p:cNvPr>
          <p:cNvSpPr txBox="1">
            <a:spLocks/>
          </p:cNvSpPr>
          <p:nvPr/>
        </p:nvSpPr>
        <p:spPr>
          <a:xfrm>
            <a:off x="3155397" y="3757002"/>
            <a:ext cx="9314898" cy="7120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None/>
            </a:pPr>
            <a:r>
              <a:rPr lang="en-US" sz="1200" i="1" dirty="0">
                <a:solidFill>
                  <a:srgbClr val="FFFFFF"/>
                </a:solidFill>
                <a:cs typeface="Arial"/>
              </a:rPr>
              <a:t>Users can browse and compare different add-on services, checking details like pricing, duration, and availability.</a:t>
            </a:r>
          </a:p>
        </p:txBody>
      </p:sp>
      <p:sp>
        <p:nvSpPr>
          <p:cNvPr id="24" name="Content Placeholder 6">
            <a:extLst>
              <a:ext uri="{FF2B5EF4-FFF2-40B4-BE49-F238E27FC236}">
                <a16:creationId xmlns:a16="http://schemas.microsoft.com/office/drawing/2014/main" id="{7E61158D-E59A-869D-0A76-32A9B1CBB33E}"/>
              </a:ext>
            </a:extLst>
          </p:cNvPr>
          <p:cNvSpPr txBox="1">
            <a:spLocks/>
          </p:cNvSpPr>
          <p:nvPr/>
        </p:nvSpPr>
        <p:spPr>
          <a:xfrm>
            <a:off x="3646649" y="4516588"/>
            <a:ext cx="8179311" cy="7120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None/>
            </a:pPr>
            <a:r>
              <a:rPr lang="en-US" sz="1200" i="1" dirty="0">
                <a:solidFill>
                  <a:srgbClr val="FFFFFF"/>
                </a:solidFill>
                <a:cs typeface="Arial"/>
              </a:rPr>
              <a:t>Users can select and book add-on services while reserving a parking spot for a seamless experience.</a:t>
            </a:r>
          </a:p>
        </p:txBody>
      </p:sp>
      <p:sp>
        <p:nvSpPr>
          <p:cNvPr id="25" name="Content Placeholder 6">
            <a:extLst>
              <a:ext uri="{FF2B5EF4-FFF2-40B4-BE49-F238E27FC236}">
                <a16:creationId xmlns:a16="http://schemas.microsoft.com/office/drawing/2014/main" id="{9E3F20C4-6B4F-82BC-6292-5E74CCE133AC}"/>
              </a:ext>
            </a:extLst>
          </p:cNvPr>
          <p:cNvSpPr txBox="1">
            <a:spLocks/>
          </p:cNvSpPr>
          <p:nvPr/>
        </p:nvSpPr>
        <p:spPr>
          <a:xfrm>
            <a:off x="3855052" y="5406108"/>
            <a:ext cx="7915588" cy="7120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None/>
            </a:pPr>
            <a:r>
              <a:rPr lang="en-US" sz="1200" i="1" dirty="0">
                <a:solidFill>
                  <a:srgbClr val="FFFFFF"/>
                </a:solidFill>
                <a:cs typeface="Arial"/>
              </a:rPr>
              <a:t>Service providers can update service descriptions, pricing, or availability to keep the system up to date.</a:t>
            </a:r>
          </a:p>
        </p:txBody>
      </p:sp>
      <p:sp>
        <p:nvSpPr>
          <p:cNvPr id="26" name="Content Placeholder 6">
            <a:extLst>
              <a:ext uri="{FF2B5EF4-FFF2-40B4-BE49-F238E27FC236}">
                <a16:creationId xmlns:a16="http://schemas.microsoft.com/office/drawing/2014/main" id="{7040E3FB-3342-C75C-25DC-2BA39E766A38}"/>
              </a:ext>
            </a:extLst>
          </p:cNvPr>
          <p:cNvSpPr txBox="1">
            <a:spLocks/>
          </p:cNvSpPr>
          <p:nvPr/>
        </p:nvSpPr>
        <p:spPr>
          <a:xfrm>
            <a:off x="3779849" y="6173043"/>
            <a:ext cx="7915588" cy="7120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None/>
            </a:pPr>
            <a:r>
              <a:rPr lang="en-US" sz="1200" i="1" dirty="0">
                <a:solidFill>
                  <a:srgbClr val="FFFFFF"/>
                </a:solidFill>
                <a:cs typeface="Arial"/>
              </a:rPr>
              <a:t>Admins or service providers can remove services that are no longer available.</a:t>
            </a:r>
          </a:p>
        </p:txBody>
      </p:sp>
    </p:spTree>
    <p:extLst>
      <p:ext uri="{BB962C8B-B14F-4D97-AF65-F5344CB8AC3E}">
        <p14:creationId xmlns:p14="http://schemas.microsoft.com/office/powerpoint/2010/main" val="9420019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F52AAA-62AA-2EB7-4FCD-CA117C043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F4A42E64-E8DD-368A-73F5-4AA537B9C3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/>
          <a:stretch/>
        </p:blipFill>
        <p:spPr>
          <a:xfrm>
            <a:off x="0" y="2860098"/>
            <a:ext cx="12192000" cy="3991511"/>
          </a:xfrm>
          <a:prstGeom prst="rect">
            <a:avLst/>
          </a:prstGeom>
        </p:spPr>
      </p:pic>
      <p:sp>
        <p:nvSpPr>
          <p:cNvPr id="12" name="object 3" descr="Blue rectangle">
            <a:extLst>
              <a:ext uri="{FF2B5EF4-FFF2-40B4-BE49-F238E27FC236}">
                <a16:creationId xmlns:a16="http://schemas.microsoft.com/office/drawing/2014/main" id="{5F2A04CF-92B1-8D9C-D3B4-9B935B09894C}"/>
              </a:ext>
            </a:extLst>
          </p:cNvPr>
          <p:cNvSpPr/>
          <p:nvPr/>
        </p:nvSpPr>
        <p:spPr>
          <a:xfrm>
            <a:off x="-12039" y="2846670"/>
            <a:ext cx="12204039" cy="4011330"/>
          </a:xfrm>
          <a:custGeom>
            <a:avLst/>
            <a:gdLst/>
            <a:ahLst/>
            <a:cxnLst/>
            <a:rect l="l" t="t" r="r" b="b"/>
            <a:pathLst>
              <a:path w="12189460" h="6858000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80000"/>
            </a:schemeClr>
          </a:solidFill>
        </p:spPr>
        <p:txBody>
          <a:bodyPr wrap="square" lIns="0" tIns="0" rIns="0" bIns="0" rtlCol="0"/>
          <a:lstStyle/>
          <a:p>
            <a:endParaRPr lang="en-US" dirty="0"/>
          </a:p>
        </p:txBody>
      </p:sp>
      <p:sp>
        <p:nvSpPr>
          <p:cNvPr id="13" name="Oval 12" descr="Beige oval">
            <a:extLst>
              <a:ext uri="{FF2B5EF4-FFF2-40B4-BE49-F238E27FC236}">
                <a16:creationId xmlns:a16="http://schemas.microsoft.com/office/drawing/2014/main" id="{520E6D55-1C6F-AC2D-10D1-E4F835935756}"/>
              </a:ext>
            </a:extLst>
          </p:cNvPr>
          <p:cNvSpPr/>
          <p:nvPr/>
        </p:nvSpPr>
        <p:spPr>
          <a:xfrm>
            <a:off x="11562237" y="6227432"/>
            <a:ext cx="266400" cy="266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4B34900-DCD4-A83C-59C9-B835AAF46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064" y="361648"/>
            <a:ext cx="10515600" cy="1325563"/>
          </a:xfrm>
        </p:spPr>
        <p:txBody>
          <a:bodyPr/>
          <a:lstStyle/>
          <a:p>
            <a:r>
              <a:rPr lang="en-US" dirty="0"/>
              <a:t>EV Charge Reservation Module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870447-C5D5-46F5-3C98-1439B196F9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51923" y="1780128"/>
            <a:ext cx="3789362" cy="823912"/>
          </a:xfrm>
        </p:spPr>
        <p:txBody>
          <a:bodyPr>
            <a:normAutofit/>
          </a:bodyPr>
          <a:lstStyle/>
          <a:p>
            <a:r>
              <a:rPr lang="en-US" sz="2000" dirty="0"/>
              <a:t>Features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70C323D-BAD0-45E2-2CC5-C37AC9F76C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2036" y="3313688"/>
            <a:ext cx="3375868" cy="490249"/>
          </a:xfrm>
        </p:spPr>
        <p:txBody>
          <a:bodyPr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None/>
            </a:pPr>
            <a:r>
              <a:rPr lang="en-US" b="1" i="1" dirty="0">
                <a:solidFill>
                  <a:srgbClr val="FFFFFF"/>
                </a:solidFill>
                <a:cs typeface="Arial"/>
              </a:rPr>
              <a:t>Reserve EV Charging Slot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15C1B6E-0C4D-5A9E-1BBD-640A234281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034308" y="1787305"/>
            <a:ext cx="4745038" cy="823912"/>
          </a:xfrm>
        </p:spPr>
        <p:txBody>
          <a:bodyPr>
            <a:normAutofit/>
          </a:bodyPr>
          <a:lstStyle/>
          <a:p>
            <a:r>
              <a:rPr lang="en-US" sz="2000" dirty="0"/>
              <a:t>	Description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3FDBB93-4F58-4032-1C98-3D8AA4A3C3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553511" y="3365871"/>
            <a:ext cx="8700759" cy="292570"/>
          </a:xfrm>
        </p:spPr>
        <p:txBody>
          <a:bodyPr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None/>
            </a:pPr>
            <a:r>
              <a:rPr lang="en-US" sz="1200" i="1" dirty="0">
                <a:solidFill>
                  <a:srgbClr val="FFFFFF"/>
                </a:solidFill>
                <a:cs typeface="Arial"/>
              </a:rPr>
              <a:t>Users can book a charging slot by selecting the station, date, and time based on real-time availability.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7809809-6D10-469B-A044-39F94339B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9" name="object 5" descr="Beige rectangle">
            <a:extLst>
              <a:ext uri="{FF2B5EF4-FFF2-40B4-BE49-F238E27FC236}">
                <a16:creationId xmlns:a16="http://schemas.microsoft.com/office/drawing/2014/main" id="{08954C4E-88C7-CE7B-35D0-10C2C7C8DB03}"/>
              </a:ext>
            </a:extLst>
          </p:cNvPr>
          <p:cNvSpPr/>
          <p:nvPr/>
        </p:nvSpPr>
        <p:spPr>
          <a:xfrm>
            <a:off x="915637" y="1337103"/>
            <a:ext cx="3744000" cy="0"/>
          </a:xfrm>
          <a:custGeom>
            <a:avLst/>
            <a:gdLst/>
            <a:ahLst/>
            <a:cxnLst/>
            <a:rect l="l" t="t" r="r" b="b"/>
            <a:pathLst>
              <a:path w="3931920">
                <a:moveTo>
                  <a:pt x="0" y="0"/>
                </a:moveTo>
                <a:lnTo>
                  <a:pt x="3931920" y="0"/>
                </a:lnTo>
              </a:path>
            </a:pathLst>
          </a:custGeom>
          <a:ln w="54864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35B8D7F-13A3-C4BE-9016-EEE19AD7DB11}"/>
              </a:ext>
            </a:extLst>
          </p:cNvPr>
          <p:cNvSpPr txBox="1"/>
          <p:nvPr/>
        </p:nvSpPr>
        <p:spPr>
          <a:xfrm>
            <a:off x="798064" y="1396650"/>
            <a:ext cx="110743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496776"/>
                </a:solidFill>
              </a:rPr>
              <a:t>The Addon Services Module enhances user convenience by offering on-demand vehicle services like cleaning, maintenance, and seamlessly integrated with parking reservations.</a:t>
            </a:r>
            <a:endParaRPr lang="en-IN" sz="1600" dirty="0">
              <a:solidFill>
                <a:srgbClr val="496776"/>
              </a:solidFill>
            </a:endParaRP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68DC5F2B-C094-5B53-B882-270F797FBBA3}"/>
              </a:ext>
            </a:extLst>
          </p:cNvPr>
          <p:cNvSpPr txBox="1">
            <a:spLocks/>
          </p:cNvSpPr>
          <p:nvPr/>
        </p:nvSpPr>
        <p:spPr>
          <a:xfrm>
            <a:off x="227622" y="3922515"/>
            <a:ext cx="3139404" cy="5160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None/>
            </a:pPr>
            <a:r>
              <a:rPr lang="en-US" b="1" i="1" dirty="0">
                <a:solidFill>
                  <a:srgbClr val="FFFFFF"/>
                </a:solidFill>
                <a:cs typeface="Arial"/>
              </a:rPr>
              <a:t>View Reservation Details</a:t>
            </a:r>
          </a:p>
        </p:txBody>
      </p:sp>
      <p:sp>
        <p:nvSpPr>
          <p:cNvPr id="20" name="Content Placeholder 4">
            <a:extLst>
              <a:ext uri="{FF2B5EF4-FFF2-40B4-BE49-F238E27FC236}">
                <a16:creationId xmlns:a16="http://schemas.microsoft.com/office/drawing/2014/main" id="{6614C90E-7D2F-6D9F-20A9-1015F3B332B3}"/>
              </a:ext>
            </a:extLst>
          </p:cNvPr>
          <p:cNvSpPr txBox="1">
            <a:spLocks/>
          </p:cNvSpPr>
          <p:nvPr/>
        </p:nvSpPr>
        <p:spPr>
          <a:xfrm>
            <a:off x="-158778" y="4610493"/>
            <a:ext cx="3837495" cy="5701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None/>
            </a:pPr>
            <a:r>
              <a:rPr lang="en-US" b="1" i="1" dirty="0">
                <a:solidFill>
                  <a:srgbClr val="FFFFFF"/>
                </a:solidFill>
                <a:cs typeface="Arial"/>
              </a:rPr>
              <a:t>Modify Existing Reservations</a:t>
            </a:r>
          </a:p>
        </p:txBody>
      </p:sp>
      <p:sp>
        <p:nvSpPr>
          <p:cNvPr id="21" name="Content Placeholder 4">
            <a:extLst>
              <a:ext uri="{FF2B5EF4-FFF2-40B4-BE49-F238E27FC236}">
                <a16:creationId xmlns:a16="http://schemas.microsoft.com/office/drawing/2014/main" id="{43EE7AB2-C204-8110-BDD2-CB81E5A13C68}"/>
              </a:ext>
            </a:extLst>
          </p:cNvPr>
          <p:cNvSpPr txBox="1">
            <a:spLocks/>
          </p:cNvSpPr>
          <p:nvPr/>
        </p:nvSpPr>
        <p:spPr>
          <a:xfrm>
            <a:off x="280045" y="5256162"/>
            <a:ext cx="2959851" cy="5160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None/>
            </a:pPr>
            <a:r>
              <a:rPr lang="en-US" b="1" i="1" dirty="0">
                <a:solidFill>
                  <a:srgbClr val="FFFFFF"/>
                </a:solidFill>
                <a:cs typeface="Arial"/>
              </a:rPr>
              <a:t>Cancel Reservations</a:t>
            </a:r>
          </a:p>
        </p:txBody>
      </p:sp>
      <p:sp>
        <p:nvSpPr>
          <p:cNvPr id="22" name="Content Placeholder 4">
            <a:extLst>
              <a:ext uri="{FF2B5EF4-FFF2-40B4-BE49-F238E27FC236}">
                <a16:creationId xmlns:a16="http://schemas.microsoft.com/office/drawing/2014/main" id="{CE0EF323-35F3-BDB6-7CC4-9B852B76A338}"/>
              </a:ext>
            </a:extLst>
          </p:cNvPr>
          <p:cNvSpPr txBox="1">
            <a:spLocks/>
          </p:cNvSpPr>
          <p:nvPr/>
        </p:nvSpPr>
        <p:spPr>
          <a:xfrm>
            <a:off x="268790" y="5843370"/>
            <a:ext cx="2959851" cy="5160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None/>
            </a:pPr>
            <a:r>
              <a:rPr lang="en-US" b="1" i="1" dirty="0">
                <a:solidFill>
                  <a:srgbClr val="FFFFFF"/>
                </a:solidFill>
                <a:cs typeface="Arial"/>
              </a:rPr>
              <a:t>User-Friendly Interface</a:t>
            </a:r>
          </a:p>
        </p:txBody>
      </p:sp>
      <p:sp>
        <p:nvSpPr>
          <p:cNvPr id="23" name="Content Placeholder 6">
            <a:extLst>
              <a:ext uri="{FF2B5EF4-FFF2-40B4-BE49-F238E27FC236}">
                <a16:creationId xmlns:a16="http://schemas.microsoft.com/office/drawing/2014/main" id="{358E8888-B343-171B-B9CF-74A4F607B6BF}"/>
              </a:ext>
            </a:extLst>
          </p:cNvPr>
          <p:cNvSpPr txBox="1">
            <a:spLocks/>
          </p:cNvSpPr>
          <p:nvPr/>
        </p:nvSpPr>
        <p:spPr>
          <a:xfrm>
            <a:off x="3161696" y="4022609"/>
            <a:ext cx="9314898" cy="7120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None/>
            </a:pPr>
            <a:r>
              <a:rPr lang="en-US" sz="1200" i="1" dirty="0">
                <a:solidFill>
                  <a:srgbClr val="FFFFFF"/>
                </a:solidFill>
                <a:cs typeface="Arial"/>
              </a:rPr>
              <a:t>Users can access details of their reservations, including station name, time slot, and vehicle information.</a:t>
            </a:r>
          </a:p>
        </p:txBody>
      </p:sp>
      <p:sp>
        <p:nvSpPr>
          <p:cNvPr id="24" name="Content Placeholder 6">
            <a:extLst>
              <a:ext uri="{FF2B5EF4-FFF2-40B4-BE49-F238E27FC236}">
                <a16:creationId xmlns:a16="http://schemas.microsoft.com/office/drawing/2014/main" id="{B66746A5-8150-9AF1-199C-6E5773EEA7DF}"/>
              </a:ext>
            </a:extLst>
          </p:cNvPr>
          <p:cNvSpPr txBox="1">
            <a:spLocks/>
          </p:cNvSpPr>
          <p:nvPr/>
        </p:nvSpPr>
        <p:spPr>
          <a:xfrm>
            <a:off x="3644242" y="4676474"/>
            <a:ext cx="8179311" cy="7120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None/>
            </a:pPr>
            <a:r>
              <a:rPr lang="en-US" sz="1200" i="1" dirty="0">
                <a:solidFill>
                  <a:srgbClr val="FFFFFF"/>
                </a:solidFill>
                <a:cs typeface="Arial"/>
              </a:rPr>
              <a:t>Allows users to update their booking, such as changing the time or station, based on slot availability.</a:t>
            </a:r>
          </a:p>
        </p:txBody>
      </p:sp>
      <p:sp>
        <p:nvSpPr>
          <p:cNvPr id="25" name="Content Placeholder 6">
            <a:extLst>
              <a:ext uri="{FF2B5EF4-FFF2-40B4-BE49-F238E27FC236}">
                <a16:creationId xmlns:a16="http://schemas.microsoft.com/office/drawing/2014/main" id="{8223E397-6BC4-A568-256C-3FCEDD809723}"/>
              </a:ext>
            </a:extLst>
          </p:cNvPr>
          <p:cNvSpPr txBox="1">
            <a:spLocks/>
          </p:cNvSpPr>
          <p:nvPr/>
        </p:nvSpPr>
        <p:spPr>
          <a:xfrm>
            <a:off x="3879390" y="5305640"/>
            <a:ext cx="7915588" cy="7120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None/>
            </a:pPr>
            <a:r>
              <a:rPr lang="en-US" sz="1200" i="1" dirty="0">
                <a:solidFill>
                  <a:srgbClr val="FFFFFF"/>
                </a:solidFill>
                <a:cs typeface="Arial"/>
              </a:rPr>
              <a:t>Users can delete their reservations when no longer needed, freeing up slots for others.</a:t>
            </a:r>
          </a:p>
        </p:txBody>
      </p:sp>
      <p:sp>
        <p:nvSpPr>
          <p:cNvPr id="26" name="Content Placeholder 6">
            <a:extLst>
              <a:ext uri="{FF2B5EF4-FFF2-40B4-BE49-F238E27FC236}">
                <a16:creationId xmlns:a16="http://schemas.microsoft.com/office/drawing/2014/main" id="{8D031B2E-5F8F-F91F-64F7-A2EDD23AA4E6}"/>
              </a:ext>
            </a:extLst>
          </p:cNvPr>
          <p:cNvSpPr txBox="1">
            <a:spLocks/>
          </p:cNvSpPr>
          <p:nvPr/>
        </p:nvSpPr>
        <p:spPr>
          <a:xfrm>
            <a:off x="3646649" y="5918171"/>
            <a:ext cx="7915588" cy="7120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None/>
            </a:pPr>
            <a:r>
              <a:rPr lang="en-US" sz="1200" i="1" dirty="0">
                <a:solidFill>
                  <a:srgbClr val="FFFFFF"/>
                </a:solidFill>
                <a:cs typeface="Arial"/>
              </a:rPr>
              <a:t>Simplifies the booking process for EV owners, ensuring a seamless experience.</a:t>
            </a:r>
          </a:p>
        </p:txBody>
      </p:sp>
    </p:spTree>
    <p:extLst>
      <p:ext uri="{BB962C8B-B14F-4D97-AF65-F5344CB8AC3E}">
        <p14:creationId xmlns:p14="http://schemas.microsoft.com/office/powerpoint/2010/main" val="27219724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5E825E06-8239-A797-037C-80D9D3383F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0" y="0"/>
            <a:ext cx="6648483" cy="6865988"/>
          </a:xfrm>
          <a:prstGeom prst="rect">
            <a:avLst/>
          </a:prstGeom>
        </p:spPr>
      </p:pic>
      <p:sp>
        <p:nvSpPr>
          <p:cNvPr id="16" name="object 3" descr="People with documents">
            <a:extLst>
              <a:ext uri="{FF2B5EF4-FFF2-40B4-BE49-F238E27FC236}">
                <a16:creationId xmlns:a16="http://schemas.microsoft.com/office/drawing/2014/main" id="{498C347F-5E42-C929-CA35-3DE5988B18D3}"/>
              </a:ext>
            </a:extLst>
          </p:cNvPr>
          <p:cNvSpPr/>
          <p:nvPr/>
        </p:nvSpPr>
        <p:spPr>
          <a:xfrm>
            <a:off x="-567512" y="-124178"/>
            <a:ext cx="6648484" cy="6865987"/>
          </a:xfrm>
          <a:custGeom>
            <a:avLst/>
            <a:gdLst/>
            <a:ahLst/>
            <a:cxnLst/>
            <a:rect l="l" t="t" r="r" b="b"/>
            <a:pathLst>
              <a:path w="12189460" h="6858000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2E8DA">
              <a:alpha val="69999"/>
            </a:srgbClr>
          </a:solidFill>
        </p:spPr>
        <p:txBody>
          <a:bodyPr wrap="square" lIns="0" tIns="0" rIns="0" bIns="0" rtlCol="0"/>
          <a:lstStyle/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4140CF4-2DAA-4239-BB77-274BDD82A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5" name="object 3" descr="Beige rectangle">
            <a:extLst>
              <a:ext uri="{FF2B5EF4-FFF2-40B4-BE49-F238E27FC236}">
                <a16:creationId xmlns:a16="http://schemas.microsoft.com/office/drawing/2014/main" id="{857A0168-DBD5-47D4-A751-3B39262D8254}"/>
              </a:ext>
            </a:extLst>
          </p:cNvPr>
          <p:cNvSpPr/>
          <p:nvPr/>
        </p:nvSpPr>
        <p:spPr>
          <a:xfrm>
            <a:off x="8554851" y="736431"/>
            <a:ext cx="3307960" cy="5184775"/>
          </a:xfrm>
          <a:custGeom>
            <a:avLst/>
            <a:gdLst/>
            <a:ahLst/>
            <a:cxnLst/>
            <a:rect l="l" t="t" r="r" b="b"/>
            <a:pathLst>
              <a:path w="4010659" h="333375">
                <a:moveTo>
                  <a:pt x="0" y="333006"/>
                </a:moveTo>
                <a:lnTo>
                  <a:pt x="4010367" y="333006"/>
                </a:lnTo>
                <a:lnTo>
                  <a:pt x="4010367" y="0"/>
                </a:lnTo>
                <a:lnTo>
                  <a:pt x="0" y="0"/>
                </a:lnTo>
                <a:lnTo>
                  <a:pt x="0" y="333006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 lang="en-US" dirty="0"/>
          </a:p>
        </p:txBody>
      </p:sp>
      <p:sp>
        <p:nvSpPr>
          <p:cNvPr id="6" name="object 6" descr="Blue rectangle">
            <a:extLst>
              <a:ext uri="{FF2B5EF4-FFF2-40B4-BE49-F238E27FC236}">
                <a16:creationId xmlns:a16="http://schemas.microsoft.com/office/drawing/2014/main" id="{7F009843-AFA3-44E8-B7D5-3F39B363C92E}"/>
              </a:ext>
            </a:extLst>
          </p:cNvPr>
          <p:cNvSpPr/>
          <p:nvPr/>
        </p:nvSpPr>
        <p:spPr>
          <a:xfrm>
            <a:off x="5804820" y="317974"/>
            <a:ext cx="5664024" cy="6222054"/>
          </a:xfrm>
          <a:custGeom>
            <a:avLst/>
            <a:gdLst/>
            <a:ahLst/>
            <a:cxnLst/>
            <a:rect l="l" t="t" r="r" b="b"/>
            <a:pathLst>
              <a:path w="6689725" h="3528060">
                <a:moveTo>
                  <a:pt x="0" y="3527996"/>
                </a:moveTo>
                <a:lnTo>
                  <a:pt x="6689648" y="3527996"/>
                </a:lnTo>
                <a:lnTo>
                  <a:pt x="6689648" y="0"/>
                </a:lnTo>
                <a:lnTo>
                  <a:pt x="0" y="0"/>
                </a:lnTo>
                <a:lnTo>
                  <a:pt x="0" y="3527996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lIns="0" tIns="0" rIns="0" bIns="0" rtlCol="0"/>
          <a:lstStyle/>
          <a:p>
            <a:endParaRPr lang="en-US" dirty="0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FC6730AE-386B-426F-9F29-221DCC5F714D}"/>
              </a:ext>
            </a:extLst>
          </p:cNvPr>
          <p:cNvSpPr txBox="1">
            <a:spLocks/>
          </p:cNvSpPr>
          <p:nvPr/>
        </p:nvSpPr>
        <p:spPr>
          <a:xfrm>
            <a:off x="6889880" y="2129211"/>
            <a:ext cx="3448600" cy="363989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AI-Based Dynamic Pricing</a:t>
            </a:r>
          </a:p>
        </p:txBody>
      </p:sp>
      <p:pic>
        <p:nvPicPr>
          <p:cNvPr id="9" name="Picture Placeholder 27" descr="Check mark">
            <a:extLst>
              <a:ext uri="{FF2B5EF4-FFF2-40B4-BE49-F238E27FC236}">
                <a16:creationId xmlns:a16="http://schemas.microsoft.com/office/drawing/2014/main" id="{9FC370A7-FF9A-42B0-9C14-95C57A9BC6D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169880" y="1965820"/>
            <a:ext cx="720000" cy="720000"/>
          </a:xfrm>
          <a:prstGeom prst="rect">
            <a:avLst/>
          </a:prstGeom>
        </p:spPr>
      </p:pic>
      <p:pic>
        <p:nvPicPr>
          <p:cNvPr id="10" name="Picture Placeholder 29" descr="Check mark">
            <a:extLst>
              <a:ext uri="{FF2B5EF4-FFF2-40B4-BE49-F238E27FC236}">
                <a16:creationId xmlns:a16="http://schemas.microsoft.com/office/drawing/2014/main" id="{1630545B-ED3D-48DD-8CD5-CB200AA2D79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169880" y="3308816"/>
            <a:ext cx="720000" cy="719999"/>
          </a:xfrm>
          <a:prstGeom prst="rect">
            <a:avLst/>
          </a:prstGeom>
        </p:spPr>
      </p:pic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186A1D66-9F36-434B-9677-0FE61760AB97}"/>
              </a:ext>
            </a:extLst>
          </p:cNvPr>
          <p:cNvSpPr txBox="1">
            <a:spLocks/>
          </p:cNvSpPr>
          <p:nvPr/>
        </p:nvSpPr>
        <p:spPr>
          <a:xfrm>
            <a:off x="6937034" y="3356051"/>
            <a:ext cx="3230958" cy="589557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Mobile Application for Better Accessibility</a:t>
            </a:r>
          </a:p>
        </p:txBody>
      </p:sp>
      <p:pic>
        <p:nvPicPr>
          <p:cNvPr id="12" name="Picture Placeholder 31" descr="Check mark">
            <a:extLst>
              <a:ext uri="{FF2B5EF4-FFF2-40B4-BE49-F238E27FC236}">
                <a16:creationId xmlns:a16="http://schemas.microsoft.com/office/drawing/2014/main" id="{33C53E5C-0A10-46F8-9546-AB2C675452D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172896" y="4891733"/>
            <a:ext cx="720000" cy="719999"/>
          </a:xfrm>
          <a:prstGeom prst="rect">
            <a:avLst/>
          </a:prstGeom>
        </p:spPr>
      </p:pic>
      <p:sp>
        <p:nvSpPr>
          <p:cNvPr id="13" name="Text Placeholder 19">
            <a:extLst>
              <a:ext uri="{FF2B5EF4-FFF2-40B4-BE49-F238E27FC236}">
                <a16:creationId xmlns:a16="http://schemas.microsoft.com/office/drawing/2014/main" id="{8744334E-DF9D-4600-8180-292072510183}"/>
              </a:ext>
            </a:extLst>
          </p:cNvPr>
          <p:cNvSpPr txBox="1">
            <a:spLocks/>
          </p:cNvSpPr>
          <p:nvPr/>
        </p:nvSpPr>
        <p:spPr>
          <a:xfrm>
            <a:off x="7016560" y="4918484"/>
            <a:ext cx="3670877" cy="1092964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IoT-Based Real-Time Parking Availability</a:t>
            </a:r>
          </a:p>
        </p:txBody>
      </p:sp>
      <p:sp>
        <p:nvSpPr>
          <p:cNvPr id="14" name="object 27" descr="Beige rectangle">
            <a:extLst>
              <a:ext uri="{FF2B5EF4-FFF2-40B4-BE49-F238E27FC236}">
                <a16:creationId xmlns:a16="http://schemas.microsoft.com/office/drawing/2014/main" id="{7F820741-8871-4D59-8ED1-466FEFD2AF94}"/>
              </a:ext>
            </a:extLst>
          </p:cNvPr>
          <p:cNvSpPr/>
          <p:nvPr/>
        </p:nvSpPr>
        <p:spPr>
          <a:xfrm flipV="1">
            <a:off x="6395667" y="1608831"/>
            <a:ext cx="2412000" cy="75489"/>
          </a:xfrm>
          <a:custGeom>
            <a:avLst/>
            <a:gdLst/>
            <a:ahLst/>
            <a:cxnLst/>
            <a:rect l="l" t="t" r="r" b="b"/>
            <a:pathLst>
              <a:path w="2501265">
                <a:moveTo>
                  <a:pt x="0" y="0"/>
                </a:moveTo>
                <a:lnTo>
                  <a:pt x="2500883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668119-9603-4701-8EEC-F2E48B808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4235" y="623510"/>
            <a:ext cx="4421229" cy="1137656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FUTURE ENHANCEMENTS 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3A93C07-B8ED-CD9C-D775-FBFFAD01E997}"/>
              </a:ext>
            </a:extLst>
          </p:cNvPr>
          <p:cNvSpPr txBox="1"/>
          <p:nvPr/>
        </p:nvSpPr>
        <p:spPr>
          <a:xfrm>
            <a:off x="6881914" y="2442158"/>
            <a:ext cx="38913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 </a:t>
            </a:r>
            <a:r>
              <a:rPr lang="en-US" sz="1200" dirty="0">
                <a:solidFill>
                  <a:schemeClr val="accent1"/>
                </a:solidFill>
              </a:rPr>
              <a:t>- Smart pricing adjustment based on demand, time, and location.</a:t>
            </a:r>
          </a:p>
          <a:p>
            <a:r>
              <a:rPr lang="en-US" sz="1200" dirty="0">
                <a:solidFill>
                  <a:schemeClr val="accent1"/>
                </a:solidFill>
              </a:rPr>
              <a:t>   - Optimize revenue and occupancy rates.</a:t>
            </a:r>
            <a:endParaRPr lang="en-IN" sz="1200" dirty="0">
              <a:solidFill>
                <a:schemeClr val="accent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E922C55-55AF-FD6B-8051-1FF07E954D82}"/>
              </a:ext>
            </a:extLst>
          </p:cNvPr>
          <p:cNvSpPr txBox="1"/>
          <p:nvPr/>
        </p:nvSpPr>
        <p:spPr>
          <a:xfrm>
            <a:off x="6881914" y="3979308"/>
            <a:ext cx="43541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/>
            </a:lvl1pPr>
          </a:lstStyle>
          <a:p>
            <a:r>
              <a:rPr lang="en-US" dirty="0">
                <a:solidFill>
                  <a:schemeClr val="accent1"/>
                </a:solidFill>
              </a:rPr>
              <a:t>- Seamless booking and management via a dedicated app.</a:t>
            </a:r>
          </a:p>
          <a:p>
            <a:r>
              <a:rPr lang="en-US" dirty="0">
                <a:solidFill>
                  <a:schemeClr val="accent1"/>
                </a:solidFill>
              </a:rPr>
              <a:t>- Instant notifications for bookings and availability.</a:t>
            </a:r>
          </a:p>
          <a:p>
            <a:r>
              <a:rPr lang="en-US" dirty="0">
                <a:solidFill>
                  <a:schemeClr val="accent1"/>
                </a:solidFill>
              </a:rPr>
              <a:t>- User-friendly navigation and real-time tracking.</a:t>
            </a:r>
            <a:endParaRPr lang="en-IN" dirty="0">
              <a:solidFill>
                <a:schemeClr val="accent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A5DEB98-6DFF-0AF8-0E9D-1468FCE2A5E7}"/>
              </a:ext>
            </a:extLst>
          </p:cNvPr>
          <p:cNvSpPr txBox="1"/>
          <p:nvPr/>
        </p:nvSpPr>
        <p:spPr>
          <a:xfrm>
            <a:off x="6889880" y="5475238"/>
            <a:ext cx="43541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/>
            </a:lvl1pPr>
          </a:lstStyle>
          <a:p>
            <a:r>
              <a:rPr lang="en-US" dirty="0">
                <a:solidFill>
                  <a:schemeClr val="accent1"/>
                </a:solidFill>
              </a:rPr>
              <a:t>- IoT sensors detect available and occupied parking spots.</a:t>
            </a:r>
          </a:p>
          <a:p>
            <a:r>
              <a:rPr lang="en-US" dirty="0">
                <a:solidFill>
                  <a:schemeClr val="accent1"/>
                </a:solidFill>
              </a:rPr>
              <a:t>- Reduce search time for users with live slot updates.</a:t>
            </a:r>
          </a:p>
          <a:p>
            <a:r>
              <a:rPr lang="en-US" dirty="0">
                <a:solidFill>
                  <a:schemeClr val="accent1"/>
                </a:solidFill>
              </a:rPr>
              <a:t>- Optimize parking utilization efficiently.</a:t>
            </a:r>
          </a:p>
        </p:txBody>
      </p:sp>
    </p:spTree>
    <p:extLst>
      <p:ext uri="{BB962C8B-B14F-4D97-AF65-F5344CB8AC3E}">
        <p14:creationId xmlns:p14="http://schemas.microsoft.com/office/powerpoint/2010/main" val="32989643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54379-12DC-488A-96E2-264D244A3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5565" y="430442"/>
            <a:ext cx="3932237" cy="1302111"/>
          </a:xfrm>
        </p:spPr>
        <p:txBody>
          <a:bodyPr>
            <a:normAutofit/>
          </a:bodyPr>
          <a:lstStyle/>
          <a:p>
            <a:r>
              <a:rPr lang="en-US" sz="7200" dirty="0"/>
              <a:t>Q &amp; 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397F9A-0355-4091-BDD7-5C578348C1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57588" y="2548395"/>
            <a:ext cx="5196200" cy="2225431"/>
          </a:xfrm>
        </p:spPr>
        <p:txBody>
          <a:bodyPr>
            <a:normAutofit/>
          </a:bodyPr>
          <a:lstStyle/>
          <a:p>
            <a:pPr algn="ctr">
              <a:lnSpc>
                <a:spcPct val="110000"/>
              </a:lnSpc>
              <a:spcBef>
                <a:spcPts val="400"/>
              </a:spcBef>
            </a:pPr>
            <a:r>
              <a:rPr lang="en-US" sz="3200" b="1" dirty="0">
                <a:solidFill>
                  <a:schemeClr val="bg1"/>
                </a:solidFill>
                <a:latin typeface="+mj-lt"/>
              </a:rPr>
              <a:t>Thank You for Your Time and Attention!</a:t>
            </a:r>
            <a:endParaRPr lang="en-US" sz="2000" i="1" spc="-15" dirty="0">
              <a:solidFill>
                <a:schemeClr val="bg2">
                  <a:lumMod val="20000"/>
                  <a:lumOff val="80000"/>
                </a:schemeClr>
              </a:solidFill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30DBC9-EEFC-416D-BFAD-DB6D1A9E8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D9263D0-7B10-45A1-AD9E-D040B170EFE2}"/>
              </a:ext>
            </a:extLst>
          </p:cNvPr>
          <p:cNvSpPr>
            <a:spLocks noGrp="1"/>
          </p:cNvSpPr>
          <p:nvPr>
            <p:ph type="body" sz="half" idx="23"/>
          </p:nvPr>
        </p:nvSpPr>
        <p:spPr>
          <a:xfrm>
            <a:off x="5760688" y="3949512"/>
            <a:ext cx="6390000" cy="1648628"/>
          </a:xfrm>
        </p:spPr>
        <p:txBody>
          <a:bodyPr>
            <a:normAutofit/>
          </a:bodyPr>
          <a:lstStyle/>
          <a:p>
            <a:pPr algn="ctr">
              <a:lnSpc>
                <a:spcPct val="130000"/>
              </a:lnSpc>
              <a:spcBef>
                <a:spcPts val="400"/>
              </a:spcBef>
            </a:pPr>
            <a:r>
              <a:rPr lang="en-US" sz="1400" b="1" dirty="0">
                <a:solidFill>
                  <a:schemeClr val="accent1"/>
                </a:solidFill>
                <a:latin typeface="+mj-lt"/>
              </a:rPr>
              <a:t> Please feel free to ask any questions or share your feedback.</a:t>
            </a:r>
          </a:p>
          <a:p>
            <a:pPr algn="ctr">
              <a:lnSpc>
                <a:spcPct val="130000"/>
              </a:lnSpc>
              <a:spcBef>
                <a:spcPts val="400"/>
              </a:spcBef>
            </a:pPr>
            <a:r>
              <a:rPr lang="en-US" sz="1400" b="1" dirty="0">
                <a:solidFill>
                  <a:schemeClr val="accent1"/>
                </a:solidFill>
                <a:latin typeface="+mj-lt"/>
              </a:rPr>
              <a:t>We are happy to clarify any points and discuss further improvements.</a:t>
            </a:r>
            <a:endParaRPr lang="en-US" sz="1000" i="1" spc="-15" dirty="0">
              <a:solidFill>
                <a:schemeClr val="accent1"/>
              </a:solidFill>
              <a:cs typeface="Arial"/>
            </a:endParaRPr>
          </a:p>
        </p:txBody>
      </p:sp>
      <p:sp>
        <p:nvSpPr>
          <p:cNvPr id="14" name="object 13" descr="Beige rectangle">
            <a:extLst>
              <a:ext uri="{FF2B5EF4-FFF2-40B4-BE49-F238E27FC236}">
                <a16:creationId xmlns:a16="http://schemas.microsoft.com/office/drawing/2014/main" id="{FEBB8673-0A72-4C5C-8239-7EF600504010}"/>
              </a:ext>
            </a:extLst>
          </p:cNvPr>
          <p:cNvSpPr/>
          <p:nvPr/>
        </p:nvSpPr>
        <p:spPr>
          <a:xfrm>
            <a:off x="915657" y="1732553"/>
            <a:ext cx="3096000" cy="0"/>
          </a:xfrm>
          <a:custGeom>
            <a:avLst/>
            <a:gdLst/>
            <a:ahLst/>
            <a:cxnLst/>
            <a:rect l="l" t="t" r="r" b="b"/>
            <a:pathLst>
              <a:path w="2694304">
                <a:moveTo>
                  <a:pt x="0" y="0"/>
                </a:moveTo>
                <a:lnTo>
                  <a:pt x="2694127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lang="en-US" dirty="0"/>
          </a:p>
        </p:txBody>
      </p:sp>
      <p:pic>
        <p:nvPicPr>
          <p:cNvPr id="9" name="Graphic 8" descr="Question mark">
            <a:extLst>
              <a:ext uri="{FF2B5EF4-FFF2-40B4-BE49-F238E27FC236}">
                <a16:creationId xmlns:a16="http://schemas.microsoft.com/office/drawing/2014/main" id="{99F9C6AC-16E0-0A21-9302-E6761C5042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5956" y="2697970"/>
            <a:ext cx="2883644" cy="2883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67562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90E9542-E239-D4A7-0250-078F34375A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-63358" y="0"/>
            <a:ext cx="12318715" cy="8212477"/>
          </a:xfrm>
          <a:prstGeom prst="rect">
            <a:avLst/>
          </a:prstGeom>
        </p:spPr>
      </p:pic>
      <p:sp>
        <p:nvSpPr>
          <p:cNvPr id="11" name="object 3" descr="People with documents">
            <a:extLst>
              <a:ext uri="{FF2B5EF4-FFF2-40B4-BE49-F238E27FC236}">
                <a16:creationId xmlns:a16="http://schemas.microsoft.com/office/drawing/2014/main" id="{150097F0-F443-6C72-F7C9-6FEA5C6FEAE5}"/>
              </a:ext>
            </a:extLst>
          </p:cNvPr>
          <p:cNvSpPr/>
          <p:nvPr/>
        </p:nvSpPr>
        <p:spPr>
          <a:xfrm>
            <a:off x="-63359" y="-1"/>
            <a:ext cx="12318715" cy="8212477"/>
          </a:xfrm>
          <a:custGeom>
            <a:avLst/>
            <a:gdLst/>
            <a:ahLst/>
            <a:cxnLst/>
            <a:rect l="l" t="t" r="r" b="b"/>
            <a:pathLst>
              <a:path w="12189460" h="6858000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69999"/>
            </a:schemeClr>
          </a:solidFill>
        </p:spPr>
        <p:txBody>
          <a:bodyPr wrap="square" lIns="0" tIns="0" rIns="0" bIns="0" rtlCol="0"/>
          <a:lstStyle/>
          <a:p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5537408-2125-4CE5-92A7-F7E0FCBA31D0}"/>
              </a:ext>
            </a:extLst>
          </p:cNvPr>
          <p:cNvSpPr txBox="1">
            <a:spLocks/>
          </p:cNvSpPr>
          <p:nvPr/>
        </p:nvSpPr>
        <p:spPr>
          <a:xfrm>
            <a:off x="-1" y="1341439"/>
            <a:ext cx="6348413" cy="4140200"/>
          </a:xfrm>
          <a:prstGeom prst="rect">
            <a:avLst/>
          </a:prstGeom>
          <a:solidFill>
            <a:schemeClr val="accent2"/>
          </a:solidFill>
        </p:spPr>
        <p:txBody>
          <a:bodyPr lIns="1548000" tIns="216000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5000"/>
              </a:lnSpc>
              <a:buFont typeface="Arial" panose="020B0604020202020204" pitchFamily="34" charset="0"/>
              <a:buNone/>
            </a:pPr>
            <a:endParaRPr lang="en-US" sz="2500" b="1" dirty="0">
              <a:solidFill>
                <a:schemeClr val="bg2">
                  <a:alpha val="50000"/>
                </a:schemeClr>
              </a:solidFill>
            </a:endParaRPr>
          </a:p>
        </p:txBody>
      </p:sp>
      <p:sp>
        <p:nvSpPr>
          <p:cNvPr id="6" name="object 6" descr="Beige rectangle">
            <a:extLst>
              <a:ext uri="{FF2B5EF4-FFF2-40B4-BE49-F238E27FC236}">
                <a16:creationId xmlns:a16="http://schemas.microsoft.com/office/drawing/2014/main" id="{B0C70F64-F3E5-413B-AF4F-E15CE944B761}"/>
              </a:ext>
            </a:extLst>
          </p:cNvPr>
          <p:cNvSpPr/>
          <p:nvPr/>
        </p:nvSpPr>
        <p:spPr>
          <a:xfrm>
            <a:off x="931203" y="3406079"/>
            <a:ext cx="4176000" cy="0"/>
          </a:xfrm>
          <a:custGeom>
            <a:avLst/>
            <a:gdLst/>
            <a:ahLst/>
            <a:cxnLst/>
            <a:rect l="l" t="t" r="r" b="b"/>
            <a:pathLst>
              <a:path w="4206240">
                <a:moveTo>
                  <a:pt x="0" y="0"/>
                </a:moveTo>
                <a:lnTo>
                  <a:pt x="4206240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D43A5E-77DF-44FD-800D-158434A3AB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597" y="2291363"/>
            <a:ext cx="4859215" cy="1325563"/>
          </a:xfrm>
        </p:spPr>
        <p:txBody>
          <a:bodyPr>
            <a:normAutofit/>
          </a:bodyPr>
          <a:lstStyle/>
          <a:p>
            <a:r>
              <a:rPr lang="en-US" sz="5000" dirty="0">
                <a:solidFill>
                  <a:schemeClr val="bg1"/>
                </a:solidFill>
              </a:rPr>
              <a:t>THANK YOU!</a:t>
            </a:r>
            <a:endParaRPr lang="en-US" sz="5000" dirty="0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691DE16F-D7AD-C329-EF63-FC9822F72FB7}"/>
              </a:ext>
            </a:extLst>
          </p:cNvPr>
          <p:cNvSpPr txBox="1">
            <a:spLocks/>
          </p:cNvSpPr>
          <p:nvPr/>
        </p:nvSpPr>
        <p:spPr>
          <a:xfrm>
            <a:off x="1683147" y="3649568"/>
            <a:ext cx="2672112" cy="1191946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  <a:spcBef>
                <a:spcPts val="400"/>
              </a:spcBef>
              <a:buFontTx/>
              <a:buChar char="-"/>
            </a:pPr>
            <a:r>
              <a:rPr lang="en-US" sz="1800" b="1" i="1" spc="-15" dirty="0">
                <a:solidFill>
                  <a:schemeClr val="accent1"/>
                </a:solidFill>
                <a:latin typeface="+mj-lt"/>
                <a:cs typeface="Arial"/>
              </a:rPr>
              <a:t>Quick Park Assist </a:t>
            </a:r>
            <a:endParaRPr lang="en-US" sz="1100" i="1" spc="-15" dirty="0">
              <a:solidFill>
                <a:schemeClr val="accent1"/>
              </a:solidFill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869512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30">
      <a:dk1>
        <a:sysClr val="windowText" lastClr="000000"/>
      </a:dk1>
      <a:lt1>
        <a:sysClr val="window" lastClr="FFFFFF"/>
      </a:lt1>
      <a:dk2>
        <a:srgbClr val="00292E"/>
      </a:dk2>
      <a:lt2>
        <a:srgbClr val="64B2C1"/>
      </a:lt2>
      <a:accent1>
        <a:srgbClr val="F0CDA1"/>
      </a:accent1>
      <a:accent2>
        <a:srgbClr val="107082"/>
      </a:accent2>
      <a:accent3>
        <a:srgbClr val="054854"/>
      </a:accent3>
      <a:accent4>
        <a:srgbClr val="00AEEF"/>
      </a:accent4>
      <a:accent5>
        <a:srgbClr val="F99927"/>
      </a:accent5>
      <a:accent6>
        <a:srgbClr val="EC7216"/>
      </a:accent6>
      <a:hlink>
        <a:srgbClr val="000000"/>
      </a:hlink>
      <a:folHlink>
        <a:srgbClr val="000000"/>
      </a:folHlink>
    </a:clrScheme>
    <a:fontScheme name="Custom 24">
      <a:majorFont>
        <a:latin typeface="Gill Sans MT"/>
        <a:ea typeface=""/>
        <a:cs typeface=""/>
      </a:majorFont>
      <a:minorFont>
        <a:latin typeface="Arial 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M45022061_Professional services marketing plan_SL_V1" id="{B214D568-CC3C-4109-877A-D7A12976D35F}" vid="{D425069E-A49A-4A86-9A62-1864F0635A9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2DDA16B-F3AC-4A5B-9F5F-6F5A8F47A9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C118CE8-9293-4220-BA3B-5D353B13ABC9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A426FE2C-7640-4BF0-9D68-FDFD4151FD5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Professional services marketing plan</Template>
  <TotalTime>2960</TotalTime>
  <Words>1291</Words>
  <Application>Microsoft Office PowerPoint</Application>
  <PresentationFormat>Widescreen</PresentationFormat>
  <Paragraphs>204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Arial </vt:lpstr>
      <vt:lpstr>Calibri</vt:lpstr>
      <vt:lpstr>Gill Sans MT</vt:lpstr>
      <vt:lpstr>Office Theme</vt:lpstr>
      <vt:lpstr>QUICK PART ASSIST APPLICATION</vt:lpstr>
      <vt:lpstr>INTRODUCTION</vt:lpstr>
      <vt:lpstr>TECHNOLOGIES USED</vt:lpstr>
      <vt:lpstr>        ARCHITECTURE </vt:lpstr>
      <vt:lpstr>MODULES OVERVIEW</vt:lpstr>
      <vt:lpstr>User Registration Module </vt:lpstr>
      <vt:lpstr>Parking Spot Management Module</vt:lpstr>
      <vt:lpstr>Parking Spot Booking Module</vt:lpstr>
      <vt:lpstr>Addon Services Module </vt:lpstr>
      <vt:lpstr>EV Charge Reservation Module</vt:lpstr>
      <vt:lpstr>FUTURE ENHANCEMENTS </vt:lpstr>
      <vt:lpstr>Q &amp; A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QUICK PART ASSIST APPLICATION</dc:title>
  <dc:creator>Dnyanada Kulkarni</dc:creator>
  <cp:lastModifiedBy>Vanshika Yadav</cp:lastModifiedBy>
  <cp:revision>23</cp:revision>
  <dcterms:created xsi:type="dcterms:W3CDTF">2025-01-26T12:05:46Z</dcterms:created>
  <dcterms:modified xsi:type="dcterms:W3CDTF">2025-04-15T13:47:33Z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